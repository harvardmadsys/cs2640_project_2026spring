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E8ECF5"/>
                </a:solidFill>
                <a:latin typeface="Calibri"/>
              </a:rPr>
              <a:t>Backup slides — open only if asked.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The project — four phases, one negative-with-a-twist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Phase A: measurement → Phase B: τ-bench → Phase C: SWE-bench → Phase D: mechanism finding.</a:t>
            </a:r>
          </a:p>
        </p:txBody>
      </p:sp>
      <p:pic>
        <p:nvPicPr>
          <p:cNvPr id="5" name="Picture 4" descr="fig6_project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68" y="1417320"/>
            <a:ext cx="10419614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AdaptiveCache vision — context as a live, ordered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Reorganize the prompt on compaction: pin stable items at the front; leave evictable holes in the suffix.</a:t>
            </a:r>
          </a:p>
        </p:txBody>
      </p:sp>
      <p:pic>
        <p:nvPicPr>
          <p:cNvPr id="5" name="Picture 4" descr="fig8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827" y="1417320"/>
            <a:ext cx="8289296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The compaction design space — 6 families, 12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All 12 policies we tested split on which signal they trust to decide what to drop.</a:t>
            </a:r>
          </a:p>
        </p:txBody>
      </p:sp>
      <p:pic>
        <p:nvPicPr>
          <p:cNvPr id="5" name="Picture 4" descr="fig9_method_family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368" y="1417320"/>
            <a:ext cx="8844215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none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Pareto-dominates on N=10 SWE-bench Lite (Haiku 4.5)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Calibri"/>
              </a:rPr>
              <a:t>84+ trajectories  ·  20 phases</a:t>
            </a:r>
          </a:p>
        </p:txBody>
      </p:sp>
      <p:pic>
        <p:nvPicPr>
          <p:cNvPr id="10" name="Picture 9" descr="method_01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9595"/>
            <a:ext cx="11091672" cy="37760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naive_summary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Always loses on cost — every fire writes uncached tokens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tested on τ-bench airline + SWE-bench Lite</a:t>
            </a:r>
          </a:p>
        </p:txBody>
      </p:sp>
      <p:pic>
        <p:nvPicPr>
          <p:cNvPr id="10" name="Picture 9" descr="method_02_naiv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microcompact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Rarely fires — needs an outlier-large observation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Calibri"/>
              </a:rPr>
              <a:t>10 trajectories  ·  Phase B + C</a:t>
            </a:r>
          </a:p>
        </p:txBody>
      </p:sp>
      <p:pic>
        <p:nvPicPr>
          <p:cNvPr id="10" name="Picture 9" descr="method_03_micro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prefix_preserving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Stable cliff cost; loses ~30% on cost vs none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28 trajectories  ·  7 phases</a:t>
            </a:r>
          </a:p>
        </p:txBody>
      </p:sp>
      <p:pic>
        <p:nvPicPr>
          <p:cNvPr id="10" name="Picture 9" descr="method_04_prefix_preser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position_aware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Proto-AdaptiveCache layout; no cost win at our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Calibri"/>
              </a:rPr>
              <a:t>12 trajectories  ·  Phase A + C</a:t>
            </a:r>
          </a:p>
        </p:txBody>
      </p:sp>
      <p:pic>
        <p:nvPicPr>
          <p:cNvPr id="10" name="Picture 9" descr="method_05_position_a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29028"/>
            <a:ext cx="11091672" cy="3697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HEURISTIC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evict_oldest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FIFO baseline — drops irreplaceable old context too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6 trajectories  ·  Phase C</a:t>
            </a:r>
          </a:p>
        </p:txBody>
      </p:sp>
      <p:pic>
        <p:nvPicPr>
          <p:cNvPr id="10" name="Picture 9" descr="method_06_evict_old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HEURISTIC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smart_evict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WINS on weak Qwen3 — prevents catastrophic OOC failures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9E73"/>
                </a:solidFill>
                <a:latin typeface="Calibri"/>
              </a:rPr>
              <a:t>59 trajectories  ·  14 phases</a:t>
            </a:r>
          </a:p>
        </p:txBody>
      </p:sp>
      <p:pic>
        <p:nvPicPr>
          <p:cNvPr id="10" name="Picture 9" descr="method_07_smart_ev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35540"/>
            <a:ext cx="11091672" cy="42841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LLM-SCORED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score_periodic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LLM scorer overhead exceeds bytes saved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limited tests  ·  Phase C v8</a:t>
            </a:r>
          </a:p>
        </p:txBody>
      </p:sp>
      <p:pic>
        <p:nvPicPr>
          <p:cNvPr id="10" name="Picture 9" descr="method_08_score_period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LLM-SCORED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llm_reorganizer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Reorder + score — same overhead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30 trajectories  ·  9 phases</a:t>
            </a:r>
          </a:p>
        </p:txBody>
      </p:sp>
      <p:pic>
        <p:nvPicPr>
          <p:cNvPr id="10" name="Picture 9" descr="method_09_llm_reorgan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WINS pytest-7490 in 4 edits  ·  ties on retail chain (5/10)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9E73"/>
                </a:solidFill>
                <a:latin typeface="Calibri"/>
              </a:rPr>
              <a:t>Phase D 2× + Phase E (10 customers)</a:t>
            </a:r>
          </a:p>
        </p:txBody>
      </p:sp>
      <p:pic>
        <p:nvPicPr>
          <p:cNvPr id="10" name="Picture 9" descr="method_10_consumption_evict_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13454"/>
            <a:ext cx="11091672" cy="37283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LOSES pytest-7490 — 18 edits, 0/2 success (mechanism finding)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Phase D 2×</a:t>
            </a:r>
          </a:p>
        </p:txBody>
      </p:sp>
      <p:pic>
        <p:nvPicPr>
          <p:cNvPr id="10" name="Picture 9" descr="method_11_consumption_evict_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3302"/>
            <a:ext cx="11091672" cy="40086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Ties plain on retail chain (5/10) — cleanest design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9E73"/>
                </a:solidFill>
                <a:latin typeface="Calibri"/>
              </a:rPr>
              <a:t>Phase E (10 customers)</a:t>
            </a:r>
          </a:p>
        </p:txBody>
      </p:sp>
      <p:pic>
        <p:nvPicPr>
          <p:cNvPr id="10" name="Picture 9" descr="method_12_consumption_evict_out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Headline result — none dominates on N=10 SWE-bench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The training-free heuristic-compaction Pareto frontier vs. no-compaction baseline.</a:t>
            </a:r>
          </a:p>
        </p:txBody>
      </p:sp>
      <p:pic>
        <p:nvPicPr>
          <p:cNvPr id="5" name="Picture 4" descr="fig1_pareto_swe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393" y="1417320"/>
            <a:ext cx="7634164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Cost decomposition — uncached input tokens dominate after cliffs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Each compaction event invalidates the prefix cache → uncached re-billing dominates.</a:t>
            </a:r>
          </a:p>
        </p:txBody>
      </p:sp>
      <p:pic>
        <p:nvPicPr>
          <p:cNvPr id="5" name="Picture 4" descr="fig2_cost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238" y="1417320"/>
            <a:ext cx="8154475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18 /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Cliff tax — 10× cost amplification per compaction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$0.10/MTok cached vs $1.00/MTok uncached. One cliff fires the difference for the rest of the trajectory.</a:t>
            </a:r>
          </a:p>
        </p:txBody>
      </p:sp>
      <p:pic>
        <p:nvPicPr>
          <p:cNvPr id="5" name="Picture 4" descr="fig5_cliff_ampl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744" y="1417320"/>
            <a:ext cx="7273463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