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6032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9319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6077C7"/>
                </a:solidFill>
                <a:latin typeface="Calibri"/>
              </a:rPr>
              <a:t>Backup slides — open only if asked.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The project — four phases, one negative-with-a-twist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Phase A: measurement → Phase B: τ-bench → Phase C: SWE-bench → Phase D: mechanism finding.</a:t>
            </a:r>
          </a:p>
        </p:txBody>
      </p:sp>
      <p:pic>
        <p:nvPicPr>
          <p:cNvPr id="5" name="Picture 4" descr="fig6_project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668" y="1417320"/>
            <a:ext cx="10419614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AdaptiveCache vision — context as a live, ordered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Reorganize the prompt on compaction: pin stable items at the front; leave evictable holes in the suffix.</a:t>
            </a:r>
          </a:p>
        </p:txBody>
      </p:sp>
      <p:pic>
        <p:nvPicPr>
          <p:cNvPr id="5" name="Picture 4" descr="fig8_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827" y="1417320"/>
            <a:ext cx="828929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The compaction design space — 6 families, 12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All 12 policies we tested split on which signal they trust to decide what to drop.</a:t>
            </a:r>
          </a:p>
        </p:txBody>
      </p:sp>
      <p:pic>
        <p:nvPicPr>
          <p:cNvPr id="5" name="Picture 4" descr="fig9_method_family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368" y="1417320"/>
            <a:ext cx="8844215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none</a:t>
            </a:r>
          </a:p>
        </p:txBody>
      </p:sp>
      <p:pic>
        <p:nvPicPr>
          <p:cNvPr id="6" name="Picture 5" descr="method_01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60995"/>
            <a:ext cx="11091672" cy="37760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naive_summary</a:t>
            </a:r>
          </a:p>
        </p:txBody>
      </p:sp>
      <p:pic>
        <p:nvPicPr>
          <p:cNvPr id="6" name="Picture 5" descr="method_02_naiv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microcompact</a:t>
            </a:r>
          </a:p>
        </p:txBody>
      </p:sp>
      <p:pic>
        <p:nvPicPr>
          <p:cNvPr id="6" name="Picture 5" descr="method_03_microco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9D7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SUMMARIZE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prefix_preserving</a:t>
            </a:r>
          </a:p>
        </p:txBody>
      </p:sp>
      <p:pic>
        <p:nvPicPr>
          <p:cNvPr id="6" name="Picture 5" descr="method_04_prefix_preser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position_aware</a:t>
            </a:r>
          </a:p>
        </p:txBody>
      </p:sp>
      <p:pic>
        <p:nvPicPr>
          <p:cNvPr id="6" name="Picture 5" descr="method_05_position_a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427"/>
            <a:ext cx="11091672" cy="36972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HEURISTIC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evict_oldest</a:t>
            </a:r>
          </a:p>
        </p:txBody>
      </p:sp>
      <p:pic>
        <p:nvPicPr>
          <p:cNvPr id="6" name="Picture 5" descr="method_06_evict_old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HEURISTIC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smart_evict</a:t>
            </a:r>
          </a:p>
        </p:txBody>
      </p:sp>
      <p:pic>
        <p:nvPicPr>
          <p:cNvPr id="6" name="Picture 5" descr="method_07_smart_ev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6940"/>
            <a:ext cx="11091672" cy="42841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LLM-SCORED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score_periodic</a:t>
            </a:r>
          </a:p>
        </p:txBody>
      </p:sp>
      <p:pic>
        <p:nvPicPr>
          <p:cNvPr id="6" name="Picture 5" descr="method_08_score_period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LLM-SCORED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llm_reorganizer</a:t>
            </a:r>
          </a:p>
        </p:txBody>
      </p:sp>
      <p:pic>
        <p:nvPicPr>
          <p:cNvPr id="6" name="Picture 5" descr="method_09_llm_reorga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consumption_evict_plain</a:t>
            </a:r>
          </a:p>
        </p:txBody>
      </p:sp>
      <p:pic>
        <p:nvPicPr>
          <p:cNvPr id="6" name="Picture 5" descr="method_10_consumption_evict_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4854"/>
            <a:ext cx="11091672" cy="37283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consumption_evict_facts</a:t>
            </a:r>
          </a:p>
        </p:txBody>
      </p:sp>
      <p:pic>
        <p:nvPicPr>
          <p:cNvPr id="6" name="Picture 5" descr="method_11_consumption_evict_f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44702"/>
            <a:ext cx="11091672" cy="4008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286000" cy="41148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ACTION-GRAPH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41148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E3A8A"/>
                </a:solidFill>
                <a:latin typeface="Calibri"/>
              </a:rPr>
              <a:t>consumption_evict_outline</a:t>
            </a:r>
          </a:p>
        </p:txBody>
      </p:sp>
      <p:pic>
        <p:nvPicPr>
          <p:cNvPr id="6" name="Picture 5" descr="method_12_consumption_evict_ou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22894"/>
            <a:ext cx="11091672" cy="4452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Headline result — none dominates on N=10 SWE-bench 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The training-free heuristic-compaction Pareto frontier vs. no-compaction baseline.</a:t>
            </a:r>
          </a:p>
        </p:txBody>
      </p:sp>
      <p:pic>
        <p:nvPicPr>
          <p:cNvPr id="5" name="Picture 4" descr="fig1_pareto_swe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393" y="1417320"/>
            <a:ext cx="7634164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Cost decomposition — uncached input tokens dominate after cliffs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Each compaction event invalidates the prefix cache → uncached re-billing dominates.</a:t>
            </a:r>
          </a:p>
        </p:txBody>
      </p:sp>
      <p:pic>
        <p:nvPicPr>
          <p:cNvPr id="5" name="Picture 4" descr="fig2_cost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238" y="1417320"/>
            <a:ext cx="8154475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18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3A8A"/>
                </a:solidFill>
                <a:latin typeface="Calibri"/>
              </a:rPr>
              <a:t>Cliff tax — 10× cost amplification per compaction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$0.10/MTok cached vs $1.00/MTok uncached. One cliff fires the difference for the rest of the trajectory.</a:t>
            </a:r>
          </a:p>
        </p:txBody>
      </p:sp>
      <p:pic>
        <p:nvPicPr>
          <p:cNvPr id="5" name="Picture 4" descr="fig5_cliff_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744" y="1417320"/>
            <a:ext cx="7273463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AdaptiveCache · Vlad Cainamisir · Harvard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095" y="6492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Backup 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