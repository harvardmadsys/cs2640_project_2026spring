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E"/>
          </a:solidFill>
          <a:ln>
            <a:solidFill>
              <a:srgbClr val="14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Learning-Augmented S3-FIFO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0" i="1">
                <a:solidFill>
                  <a:srgbClr val="E0E0E0"/>
                </a:solidFill>
              </a:rPr>
              <a:t>A small linear gate, an honest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 i="0">
                <a:solidFill>
                  <a:srgbClr val="C8C8C8"/>
                </a:solidFill>
              </a:rPr>
              <a:t>Minkai Li  ·  CS 2640  · 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A4E"/>
          </a:solidFill>
          <a:ln>
            <a:solidFill>
              <a:srgbClr val="14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Goal: simple learning to augment caching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Not learn-the-policy. Learn one decision inside an existing policy.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1556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 i="0">
                <a:solidFill>
                  <a:srgbClr val="142A4E"/>
                </a:solidFill>
              </a:rPr>
              <a:t>Production caches are dominated by hand-crafted heuristics: LRU, FIFO, ARC, S3-FIFO.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1556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 i="0">
                <a:solidFill>
                  <a:srgbClr val="142A4E"/>
                </a:solidFill>
              </a:rPr>
              <a:t>Each heuristic encodes a hardcoded classifier — "promote on hit," "evict the tail."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34640"/>
            <a:ext cx="11064240" cy="2377440"/>
          </a:xfrm>
          <a:prstGeom prst="rect">
            <a:avLst/>
          </a:prstGeom>
          <a:solidFill>
            <a:srgbClr val="F4F4F4"/>
          </a:solidFill>
          <a:ln>
            <a:solidFill>
              <a:srgbClr val="14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10515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 i="0">
                <a:solidFill>
                  <a:srgbClr val="C0392B"/>
                </a:solidFill>
              </a:rPr>
              <a:t>Our 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2044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>
                <a:solidFill>
                  <a:srgbClr val="142A4E"/>
                </a:solidFill>
              </a:rPr>
              <a:t>•  Replace the cheapest, highest-leverage hardcoded decision with a 4-parameter online linear model.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42A4E"/>
                </a:solidFill>
              </a:rPr>
              <a:t>•  Use only cache-internal signals — no tenant IDs, no content-type embeddings, no offline training.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42A4E"/>
                </a:solidFill>
              </a:rPr>
              <a:t>•  Keep the surrounding policy structure (S3-FIFO's S→M→G queues) untouched.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486400"/>
            <a:ext cx="11064240" cy="1005840"/>
          </a:xfrm>
          <a:prstGeom prst="rect">
            <a:avLst/>
          </a:prstGeom>
          <a:solidFill>
            <a:srgbClr val="FFF6E0"/>
          </a:solidFill>
          <a:ln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596128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Guest lecture, Valentin Flunkert (AWS)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1">
                <a:solidFill>
                  <a:srgbClr val="142A4E"/>
                </a:solidFill>
              </a:rPr>
              <a:t>No learned cache has shipped at AWS — effectiveness alone isn't the bar; effectiveness + interpretability 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A4E"/>
          </a:solidFill>
          <a:ln>
            <a:solidFill>
              <a:srgbClr val="14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template: HALP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Heuristic-Augmented Learned Policies — the deployed model we are imitating.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75720" cy="1188720"/>
          </a:xfrm>
          <a:prstGeom prst="rect">
            <a:avLst/>
          </a:prstGeom>
          <a:solidFill>
            <a:srgbClr val="F4F4F4"/>
          </a:solidFill>
          <a:ln>
            <a:solidFill>
              <a:srgbClr val="14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i="0">
                <a:solidFill>
                  <a:srgbClr val="142A4E"/>
                </a:solidFill>
              </a:rPr>
              <a:t>Song et al., "Cache Eviction in Practice: A Heuristic-Augmented Learned Policy," NSDI '23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1556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Deployed at YouTube's CDN. 9.1% byte-MR reduction at 1.8% CPU overhead. First major learned-cache result that survived a real production rollout.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606040"/>
            <a:ext cx="11475720" cy="3703320"/>
          </a:xfrm>
          <a:prstGeom prst="rect">
            <a:avLst/>
          </a:prstGeom>
          <a:solidFill>
            <a:srgbClr val="F4F4F4"/>
          </a:solidFill>
          <a:ln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724912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i="0">
                <a:solidFill>
                  <a:srgbClr val="C0392B"/>
                </a:solidFill>
              </a:rPr>
              <a:t>How HALP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109728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142A4E"/>
                </a:solidFill>
              </a:rPr>
              <a:t>•  Heuristic (LRU-class) pre-selects k=4 eviction candidates from the tail.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42A4E"/>
                </a:solidFill>
              </a:rPr>
              <a:t>•  A small continuously-trained MLP scores each candidate.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42A4E"/>
                </a:solidFill>
              </a:rPr>
              <a:t>•  Pairwise (RLHF-style) preference loss against Belady-derived "correct" pairs.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42A4E"/>
                </a:solidFill>
              </a:rPr>
              <a:t>•  Evict argmin score. Heuristic stays in charge of the search space; learner only re-ranks.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A4E"/>
          </a:solidFill>
          <a:ln>
            <a:solidFill>
              <a:srgbClr val="14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Learned-caching ideas considered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★ marks the one we pursued.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11475720" cy="868680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40233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i="0">
                <a:solidFill>
                  <a:srgbClr val="C0392B"/>
                </a:solidFill>
              </a:rPr>
              <a:t>★  Learned S → M promotion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554480"/>
            <a:ext cx="6858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142A4E"/>
                </a:solidFill>
              </a:rPr>
              <a:t>Replace S3-FIFO's hardcoded promote-on-accessed-bit rule with a tiny online classifier.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86000"/>
            <a:ext cx="11475720" cy="868680"/>
          </a:xfrm>
          <a:prstGeom prst="rect">
            <a:avLst/>
          </a:prstGeom>
          <a:solidFill>
            <a:srgbClr val="ECECEC"/>
          </a:solidFill>
          <a:ln>
            <a:solidFill>
              <a:srgbClr val="F4F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40233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i="0">
                <a:solidFill>
                  <a:srgbClr val="142A4E"/>
                </a:solidFill>
              </a:rPr>
              <a:t>HALP-style rerank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514600"/>
            <a:ext cx="6858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142A4E"/>
                </a:solidFill>
              </a:rPr>
              <a:t>Score k tail candidates at eviction time, evict argmin.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46120"/>
            <a:ext cx="11475720" cy="868680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429000"/>
            <a:ext cx="40233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i="0">
                <a:solidFill>
                  <a:srgbClr val="142A4E"/>
                </a:solidFill>
              </a:rPr>
              <a:t>Adaptive |S| / |M| sizing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474720"/>
            <a:ext cx="6858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142A4E"/>
                </a:solidFill>
              </a:rPr>
              <a:t>Bandit-tune the S fraction online — Yang et al.'s open problem.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206240"/>
            <a:ext cx="11475720" cy="868680"/>
          </a:xfrm>
          <a:prstGeom prst="rect">
            <a:avLst/>
          </a:prstGeom>
          <a:solidFill>
            <a:srgbClr val="ECECEC"/>
          </a:solidFill>
          <a:ln>
            <a:solidFill>
              <a:srgbClr val="F4F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389120"/>
            <a:ext cx="40233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i="0">
                <a:solidFill>
                  <a:srgbClr val="142A4E"/>
                </a:solidFill>
              </a:rPr>
              <a:t>Experts meta-policy (vs CACHEUS)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434840"/>
            <a:ext cx="6858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142A4E"/>
                </a:solidFill>
              </a:rPr>
              <a:t>Hedge over {S3-FIFO + gate, vanilla S3-FIFO} or {S3-FIFO, SIEVE}. Safest "never lose," lowest novelty.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166360"/>
            <a:ext cx="11475720" cy="868680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349240"/>
            <a:ext cx="40233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i="0">
                <a:solidFill>
                  <a:srgbClr val="142A4E"/>
                </a:solidFill>
              </a:rPr>
              <a:t>Learned admission to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5394960"/>
            <a:ext cx="6858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142A4E"/>
                </a:solidFill>
              </a:rPr>
              <a:t>Refuse to admit large one-hit-wonders into S (AdaptSize / Flashield style).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263640"/>
            <a:ext cx="11430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1">
                <a:solidFill>
                  <a:srgbClr val="C0392B"/>
                </a:solidFill>
              </a:rPr>
              <a:t>Rest of this talk is the promotion gate.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A4E"/>
          </a:solidFill>
          <a:ln>
            <a:solidFill>
              <a:srgbClr val="14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Why the S→M promotion gate?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S3-FIFO's promotion rule is a hardcoded binary classifier — and it's wrong sometimes.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75720" cy="5120640"/>
          </a:xfrm>
          <a:prstGeom prst="rect">
            <a:avLst/>
          </a:prstGeom>
          <a:solidFill>
            <a:srgbClr val="F4F4F4"/>
          </a:solidFill>
          <a:ln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Where the rule fails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142A4E"/>
                </a:solidFill>
              </a:rPr>
              <a:t>•  1-bit summary collapses too much.</a:t>
            </a:r>
          </a:p>
          <a:p>
            <a:pPr lvl="1" algn="l">
              <a:spcAft>
                <a:spcPts val="400"/>
              </a:spcAft>
            </a:pPr>
            <a:r>
              <a:rPr sz="1300">
                <a:solidFill>
                  <a:srgbClr val="142A4E"/>
                </a:solidFill>
              </a:rPr>
              <a:t>  –  One touch ≡ ten touches; can't separate "genuinely hot" from "barely touched once."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142A4E"/>
                </a:solidFill>
              </a:rPr>
              <a:t>•  Position in S is ignored.</a:t>
            </a:r>
          </a:p>
          <a:p>
            <a:pPr lvl="1" algn="l">
              <a:spcAft>
                <a:spcPts val="400"/>
              </a:spcAft>
            </a:pPr>
            <a:r>
              <a:rPr sz="1300">
                <a:solidFill>
                  <a:srgbClr val="142A4E"/>
                </a:solidFill>
              </a:rPr>
              <a:t>  –  A touch right after insertion is strong signal; a touch right before eviction is often noise.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142A4E"/>
                </a:solidFill>
              </a:rPr>
              <a:t>•  Recency of the last hit is invisible.</a:t>
            </a:r>
          </a:p>
          <a:p>
            <a:pPr lvl="1" algn="l">
              <a:spcAft>
                <a:spcPts val="400"/>
              </a:spcAft>
            </a:pPr>
            <a:r>
              <a:rPr sz="1300">
                <a:solidFill>
                  <a:srgbClr val="142A4E"/>
                </a:solidFill>
              </a:rPr>
              <a:t>  –  Touched 1 ms ago vs 10 min ago = same bit.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142A4E"/>
                </a:solidFill>
              </a:rPr>
              <a:t>•  Asymmetric error costs.</a:t>
            </a:r>
          </a:p>
          <a:p>
            <a:pPr lvl="1" algn="l">
              <a:spcAft>
                <a:spcPts val="400"/>
              </a:spcAft>
            </a:pPr>
            <a:r>
              <a:rPr sz="1300">
                <a:solidFill>
                  <a:srgbClr val="142A4E"/>
                </a:solidFill>
              </a:rPr>
              <a:t>  –  False-promote evicts a hot M-resident; false-demote loses a popular newcomer.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142A4E"/>
                </a:solidFill>
              </a:rPr>
              <a:t>•  Static across workloads.</a:t>
            </a:r>
          </a:p>
          <a:p>
            <a:pPr lvl="1" algn="l">
              <a:spcAft>
                <a:spcPts val="400"/>
              </a:spcAft>
            </a:pPr>
            <a:r>
              <a:rPr sz="1300">
                <a:solidFill>
                  <a:srgbClr val="142A4E"/>
                </a:solidFill>
              </a:rPr>
              <a:t>  –  Heavy-tailed KV wants "promote almost nothing"; locality-rich block I/O wants the opposite.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A4E"/>
          </a:solidFill>
          <a:ln>
            <a:solidFill>
              <a:srgbClr val="14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model: V4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An online logistic regression with 3 features and 4 parameters.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75720" cy="1463040"/>
          </a:xfrm>
          <a:prstGeom prst="rect">
            <a:avLst/>
          </a:prstGeom>
          <a:solidFill>
            <a:srgbClr val="F4F4F4"/>
          </a:solidFill>
          <a:ln>
            <a:solidFill>
              <a:srgbClr val="14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i="0">
                <a:solidFill>
                  <a:srgbClr val="142A4E"/>
                </a:solidFill>
              </a:rPr>
              <a:t>Decision rule (at the S → M boundary)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1556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 i="0">
                <a:solidFill>
                  <a:srgbClr val="C0392B"/>
                </a:solidFill>
              </a:rPr>
              <a:t>promote(x)  =  σ(b + w₁·log(hits) + w₂·age_S + w₃·recency)  &gt;  0.5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11155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 i="1">
                <a:solidFill>
                  <a:srgbClr val="555555"/>
                </a:solidFill>
              </a:rPr>
              <a:t>Online SGD update against the Belady-binary label  y = 1{ next_access_vtime − now &lt; cache_size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26080"/>
            <a:ext cx="11475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i="0">
                <a:solidFill>
                  <a:srgbClr val="142A4E"/>
                </a:solidFill>
              </a:rPr>
              <a:t>Features (each computed from cache-internal state only)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520440"/>
            <a:ext cx="11475720" cy="777240"/>
          </a:xfrm>
          <a:prstGeom prst="rect">
            <a:avLst/>
          </a:prstGeom>
          <a:solidFill>
            <a:srgbClr val="F8F8F8"/>
          </a:solidFill>
          <a:ln>
            <a:solidFill>
              <a:srgbClr val="14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721608"/>
            <a:ext cx="3200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log(hits)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749040"/>
            <a:ext cx="7315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 i="1">
                <a:solidFill>
                  <a:srgbClr val="555555"/>
                </a:solidFill>
              </a:rPr>
              <a:t>log(1 + hits since insertion)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389120"/>
            <a:ext cx="11475720" cy="777240"/>
          </a:xfrm>
          <a:prstGeom prst="rect">
            <a:avLst/>
          </a:prstGeom>
          <a:solidFill>
            <a:srgbClr val="F8F8F8"/>
          </a:solidFill>
          <a:ln>
            <a:solidFill>
              <a:srgbClr val="14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590288"/>
            <a:ext cx="3200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age_S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617720"/>
            <a:ext cx="7315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 i="1">
                <a:solidFill>
                  <a:srgbClr val="555555"/>
                </a:solidFill>
              </a:rPr>
              <a:t>(now − insertion_time) / |S|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257800"/>
            <a:ext cx="11475720" cy="777240"/>
          </a:xfrm>
          <a:prstGeom prst="rect">
            <a:avLst/>
          </a:prstGeom>
          <a:solidFill>
            <a:srgbClr val="F8F8F8"/>
          </a:solidFill>
          <a:ln>
            <a:solidFill>
              <a:srgbClr val="14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458968"/>
            <a:ext cx="3200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recency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5486400"/>
            <a:ext cx="7315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 i="1">
                <a:solidFill>
                  <a:srgbClr val="555555"/>
                </a:solidFill>
              </a:rPr>
              <a:t>(now − last_hit_time) / |S|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A4E"/>
          </a:solidFill>
          <a:ln>
            <a:solidFill>
              <a:srgbClr val="14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Features we tried that didn't help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What got dropped from V3 → V4, and what we tried adding back.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5029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i="0">
                <a:solidFill>
                  <a:srgbClr val="142A4E"/>
                </a:solidFill>
              </a:rPr>
              <a:t>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i="0">
                <a:solidFill>
                  <a:srgbClr val="142A4E"/>
                </a:solidFill>
              </a:rPr>
              <a:t>Why it didn't help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11475720" cy="1097280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94560"/>
            <a:ext cx="5760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i="0">
                <a:solidFill>
                  <a:srgbClr val="C0392B"/>
                </a:solidFill>
              </a:rPr>
              <a:t>recency / age (ratio)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5029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 i="1">
                <a:solidFill>
                  <a:srgbClr val="142A4E"/>
                </a:solidFill>
              </a:rPr>
              <a:t>wrong basis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017520"/>
            <a:ext cx="11475720" cy="1097280"/>
          </a:xfrm>
          <a:prstGeom prst="rect">
            <a:avLst/>
          </a:prstGeom>
          <a:solidFill>
            <a:srgbClr val="ECECEC"/>
          </a:solidFill>
          <a:ln>
            <a:solidFill>
              <a:srgbClr val="F4F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383280"/>
            <a:ext cx="5760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i="0">
                <a:solidFill>
                  <a:srgbClr val="C0392B"/>
                </a:solidFill>
              </a:rPr>
              <a:t>log(age)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383280"/>
            <a:ext cx="5029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 i="1">
                <a:solidFill>
                  <a:srgbClr val="142A4E"/>
                </a:solidFill>
              </a:rPr>
              <a:t>compresses where decisions live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206240"/>
            <a:ext cx="11475720" cy="1097280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572000"/>
            <a:ext cx="5760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i="0">
                <a:solidFill>
                  <a:srgbClr val="C0392B"/>
                </a:solidFill>
              </a:rPr>
              <a:t>piecewise-linear GAM (16 params)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572000"/>
            <a:ext cx="5029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 i="1">
                <a:solidFill>
                  <a:srgbClr val="142A4E"/>
                </a:solidFill>
              </a:rPr>
              <a:t>undertrained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897880"/>
            <a:ext cx="11430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1">
                <a:solidFill>
                  <a:srgbClr val="C0392B"/>
                </a:solidFill>
              </a:rPr>
              <a:t>Lesson: more expressive ≠ better. The Belady boundary is locally linear in (log_hits, age, recency).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A4E"/>
          </a:solidFill>
          <a:ln>
            <a:solidFill>
              <a:srgbClr val="14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How would the SGD actually run in production?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Delayed online updates, inspired by HALP — applied to our promotion gate.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75720" cy="868680"/>
          </a:xfrm>
          <a:prstGeom prst="rect">
            <a:avLst/>
          </a:prstGeom>
          <a:solidFill>
            <a:srgbClr val="F4F4F4"/>
          </a:solidFill>
          <a:ln>
            <a:solidFill>
              <a:srgbClr val="14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155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 i="0">
                <a:solidFill>
                  <a:srgbClr val="142A4E"/>
                </a:solidFill>
              </a:rPr>
              <a:t>Core problem: the Belady label requires knowing the next access — which we don't have at decision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73352"/>
            <a:ext cx="11155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</a:rPr>
              <a:t>Solution: don't train at decision time. Snapshot the decision; train when the label resolves.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94560"/>
            <a:ext cx="11475720" cy="4160520"/>
          </a:xfrm>
          <a:prstGeom prst="rect">
            <a:avLst/>
          </a:prstGeom>
          <a:solidFill>
            <a:srgbClr val="F4F4F4"/>
          </a:solidFill>
          <a:ln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i="0">
                <a:solidFill>
                  <a:srgbClr val="C0392B"/>
                </a:solidFill>
              </a:rPr>
              <a:t>Delayed online updates for the S→M 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88920"/>
            <a:ext cx="109728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142A4E"/>
                </a:solidFill>
              </a:rPr>
              <a:t>•  At each promotion decision, snapshot ⟨ obj_id, features φ(x), gate output ⟩ into a pending-buffer.</a:t>
            </a:r>
          </a:p>
          <a:p>
            <a:pPr lvl="1" algn="l">
              <a:spcAft>
                <a:spcPts val="400"/>
              </a:spcAft>
            </a:pPr>
            <a:r>
              <a:rPr sz="1200">
                <a:solidFill>
                  <a:srgbClr val="142A4E"/>
                </a:solidFill>
              </a:rPr>
              <a:t>  –  φ(x) = (log_hits, age_S, recency); the snapshot freezes them at decision time.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42A4E"/>
                </a:solidFill>
              </a:rPr>
              <a:t>•  Wait for the label to resolve. Two natural resolution events:</a:t>
            </a:r>
          </a:p>
          <a:p>
            <a:pPr lvl="1" algn="l">
              <a:spcAft>
                <a:spcPts val="400"/>
              </a:spcAft>
            </a:pPr>
            <a:r>
              <a:rPr sz="1200">
                <a:solidFill>
                  <a:srgbClr val="142A4E"/>
                </a:solidFill>
              </a:rPr>
              <a:t>  –  Hit  →  the object was accessed again within the horizon W ≈ |cache|. Label y = 1.</a:t>
            </a:r>
          </a:p>
          <a:p>
            <a:pPr lvl="1" algn="l">
              <a:spcAft>
                <a:spcPts val="400"/>
              </a:spcAft>
            </a:pPr>
            <a:r>
              <a:rPr sz="1200">
                <a:solidFill>
                  <a:srgbClr val="142A4E"/>
                </a:solidFill>
              </a:rPr>
              <a:t>  –  Eviction without a hit  →  the object aged out of M (or G) without a re-access. Label y = 0.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42A4E"/>
                </a:solidFill>
              </a:rPr>
              <a:t>•  On resolution: apply one SGD step on (φ, y), then drop the tuple from the buffer.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42A4E"/>
                </a:solidFill>
              </a:rPr>
              <a:t>•  Pending-buffer size is bounded by the cache's own residency window — no unbounded growth.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42A4E"/>
                </a:solidFill>
              </a:rPr>
              <a:t>•  Failure mode is graceful: if the gate's rolling accuracy degrades, fall back to vanilla S3-FIFO.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6446520"/>
            <a:ext cx="11475720" cy="365760"/>
          </a:xfrm>
          <a:prstGeom prst="rect">
            <a:avLst/>
          </a:prstGeom>
          <a:solidFill>
            <a:srgbClr val="FFF6E0"/>
          </a:solidFill>
          <a:ln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1">
                <a:solidFill>
                  <a:srgbClr val="142A4E"/>
                </a:solidFill>
              </a:rPr>
              <a:t>For this project we use offline Belady labels — an upper bound on what the delayed-online scheme above can learn.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A4E"/>
          </a:solidFill>
          <a:ln>
            <a:solidFill>
              <a:srgbClr val="14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First results: V4 vs vanilla S3-FIFO (T=1)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On our initial trace set, V4 looked like a clean win. (Spoiler: read on.)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Request miss-ratio, lower is better. 500k requests per cell.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2606040" cy="457200"/>
          </a:xfrm>
          <a:prstGeom prst="rect">
            <a:avLst/>
          </a:prstGeom>
          <a:solidFill>
            <a:srgbClr val="142A4E"/>
          </a:solidFill>
          <a:ln>
            <a:solidFill>
              <a:srgbClr val="14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64792"/>
            <a:ext cx="2651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Trace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1691640"/>
            <a:ext cx="1965960" cy="457200"/>
          </a:xfrm>
          <a:prstGeom prst="rect">
            <a:avLst/>
          </a:prstGeom>
          <a:solidFill>
            <a:srgbClr val="142A4E"/>
          </a:solidFill>
          <a:ln>
            <a:solidFill>
              <a:srgbClr val="14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4680" y="1764792"/>
            <a:ext cx="2011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Cache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691640"/>
            <a:ext cx="2148840" cy="457200"/>
          </a:xfrm>
          <a:prstGeom prst="rect">
            <a:avLst/>
          </a:prstGeom>
          <a:solidFill>
            <a:srgbClr val="142A4E"/>
          </a:solidFill>
          <a:ln>
            <a:solidFill>
              <a:srgbClr val="14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6360" y="1764792"/>
            <a:ext cx="21945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S3-FIFO (T=1)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1691640"/>
            <a:ext cx="2240280" cy="457200"/>
          </a:xfrm>
          <a:prstGeom prst="rect">
            <a:avLst/>
          </a:prstGeom>
          <a:solidFill>
            <a:srgbClr val="142A4E"/>
          </a:solidFill>
          <a:ln>
            <a:solidFill>
              <a:srgbClr val="14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1764792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1691640"/>
            <a:ext cx="2240280" cy="457200"/>
          </a:xfrm>
          <a:prstGeom prst="rect">
            <a:avLst/>
          </a:prstGeom>
          <a:solidFill>
            <a:srgbClr val="142A4E"/>
          </a:solidFill>
          <a:ln>
            <a:solidFill>
              <a:srgbClr val="14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46920" y="1764792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194560"/>
            <a:ext cx="2606040" cy="457200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286000"/>
            <a:ext cx="2651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142A4E"/>
                </a:solidFill>
              </a:rPr>
              <a:t>Twitter cluster52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2194560"/>
            <a:ext cx="1965960" cy="457200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2286000"/>
            <a:ext cx="2011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142A4E"/>
                </a:solidFill>
              </a:rPr>
              <a:t>1,000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0" y="2194560"/>
            <a:ext cx="2148840" cy="457200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2286000"/>
            <a:ext cx="21945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142A4E"/>
                </a:solidFill>
              </a:rPr>
              <a:t>0.3355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2194560"/>
            <a:ext cx="2240280" cy="457200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228600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142A4E"/>
                </a:solidFill>
              </a:rPr>
              <a:t>0.3184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0" y="2194560"/>
            <a:ext cx="2240280" cy="457200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228600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1E884A"/>
                </a:solidFill>
              </a:rPr>
              <a:t>−1.71 pp 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697480"/>
            <a:ext cx="2606040" cy="457200"/>
          </a:xfrm>
          <a:prstGeom prst="rect">
            <a:avLst/>
          </a:prstGeom>
          <a:solidFill>
            <a:srgbClr val="ECECEC"/>
          </a:solidFill>
          <a:ln>
            <a:solidFill>
              <a:srgbClr val="EC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2788920"/>
            <a:ext cx="2651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142A4E"/>
                </a:solidFill>
              </a:rPr>
              <a:t>Twitter cluster52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08960" y="2697480"/>
            <a:ext cx="1965960" cy="457200"/>
          </a:xfrm>
          <a:prstGeom prst="rect">
            <a:avLst/>
          </a:prstGeom>
          <a:solidFill>
            <a:srgbClr val="ECECEC"/>
          </a:solidFill>
          <a:ln>
            <a:solidFill>
              <a:srgbClr val="EC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0" y="2788920"/>
            <a:ext cx="2011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142A4E"/>
                </a:solidFill>
              </a:rPr>
              <a:t>10,000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20640" y="2697480"/>
            <a:ext cx="2148840" cy="457200"/>
          </a:xfrm>
          <a:prstGeom prst="rect">
            <a:avLst/>
          </a:prstGeom>
          <a:solidFill>
            <a:srgbClr val="ECECEC"/>
          </a:solidFill>
          <a:ln>
            <a:solidFill>
              <a:srgbClr val="EC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12080" y="2788920"/>
            <a:ext cx="21945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142A4E"/>
                </a:solidFill>
              </a:rPr>
              <a:t>0.2110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2697480"/>
            <a:ext cx="2240280" cy="457200"/>
          </a:xfrm>
          <a:prstGeom prst="rect">
            <a:avLst/>
          </a:prstGeom>
          <a:solidFill>
            <a:srgbClr val="ECECEC"/>
          </a:solidFill>
          <a:ln>
            <a:solidFill>
              <a:srgbClr val="EC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06640" y="278892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142A4E"/>
                </a:solidFill>
              </a:rPr>
              <a:t>0.2078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01200" y="2697480"/>
            <a:ext cx="2240280" cy="457200"/>
          </a:xfrm>
          <a:prstGeom prst="rect">
            <a:avLst/>
          </a:prstGeom>
          <a:solidFill>
            <a:srgbClr val="ECECEC"/>
          </a:solidFill>
          <a:ln>
            <a:solidFill>
              <a:srgbClr val="EC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92640" y="278892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1E884A"/>
                </a:solidFill>
              </a:rPr>
              <a:t>−0.32 pp 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200400"/>
            <a:ext cx="2606040" cy="457200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291840"/>
            <a:ext cx="2651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142A4E"/>
                </a:solidFill>
              </a:rPr>
              <a:t>Twitter cluster45 (write-heavy)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08960" y="3200400"/>
            <a:ext cx="1965960" cy="457200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0" y="3291840"/>
            <a:ext cx="2011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142A4E"/>
                </a:solidFill>
              </a:rPr>
              <a:t>1,000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20640" y="3200400"/>
            <a:ext cx="2148840" cy="457200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12080" y="3291840"/>
            <a:ext cx="21945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142A4E"/>
                </a:solidFill>
              </a:rPr>
              <a:t>0.5630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0" y="3200400"/>
            <a:ext cx="2240280" cy="457200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06640" y="329184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142A4E"/>
                </a:solidFill>
              </a:rPr>
              <a:t>0.5459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01200" y="3200400"/>
            <a:ext cx="2240280" cy="457200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92640" y="329184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1E884A"/>
                </a:solidFill>
              </a:rPr>
              <a:t>−1.71 pp 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703320"/>
            <a:ext cx="2606040" cy="457200"/>
          </a:xfrm>
          <a:prstGeom prst="rect">
            <a:avLst/>
          </a:prstGeom>
          <a:solidFill>
            <a:srgbClr val="ECECEC"/>
          </a:solidFill>
          <a:ln>
            <a:solidFill>
              <a:srgbClr val="EC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3794760"/>
            <a:ext cx="2651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142A4E"/>
                </a:solidFill>
              </a:rPr>
              <a:t>Twitter cluster45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08960" y="3703320"/>
            <a:ext cx="1965960" cy="457200"/>
          </a:xfrm>
          <a:prstGeom prst="rect">
            <a:avLst/>
          </a:prstGeom>
          <a:solidFill>
            <a:srgbClr val="ECECEC"/>
          </a:solidFill>
          <a:ln>
            <a:solidFill>
              <a:srgbClr val="EC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0" y="3794760"/>
            <a:ext cx="2011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142A4E"/>
                </a:solidFill>
              </a:rPr>
              <a:t>10,000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20640" y="3703320"/>
            <a:ext cx="2148840" cy="457200"/>
          </a:xfrm>
          <a:prstGeom prst="rect">
            <a:avLst/>
          </a:prstGeom>
          <a:solidFill>
            <a:srgbClr val="ECECEC"/>
          </a:solidFill>
          <a:ln>
            <a:solidFill>
              <a:srgbClr val="EC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12080" y="3794760"/>
            <a:ext cx="21945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142A4E"/>
                </a:solidFill>
              </a:rPr>
              <a:t>0.4982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15200" y="3703320"/>
            <a:ext cx="2240280" cy="457200"/>
          </a:xfrm>
          <a:prstGeom prst="rect">
            <a:avLst/>
          </a:prstGeom>
          <a:solidFill>
            <a:srgbClr val="ECECEC"/>
          </a:solidFill>
          <a:ln>
            <a:solidFill>
              <a:srgbClr val="EC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06640" y="379476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142A4E"/>
                </a:solidFill>
              </a:rPr>
              <a:t>0.4940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01200" y="3703320"/>
            <a:ext cx="2240280" cy="457200"/>
          </a:xfrm>
          <a:prstGeom prst="rect">
            <a:avLst/>
          </a:prstGeom>
          <a:solidFill>
            <a:srgbClr val="ECECEC"/>
          </a:solidFill>
          <a:ln>
            <a:solidFill>
              <a:srgbClr val="EC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379476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1E884A"/>
                </a:solidFill>
              </a:rPr>
              <a:t>−0.42 pp ✓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4206240"/>
            <a:ext cx="2606040" cy="457200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4297680"/>
            <a:ext cx="2651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142A4E"/>
                </a:solidFill>
              </a:rPr>
              <a:t>MSR hm_0 (block I/O)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108960" y="4206240"/>
            <a:ext cx="1965960" cy="457200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00400" y="4297680"/>
            <a:ext cx="2011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142A4E"/>
                </a:solidFill>
              </a:rPr>
              <a:t>1,000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20640" y="4206240"/>
            <a:ext cx="2148840" cy="457200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212080" y="4297680"/>
            <a:ext cx="21945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142A4E"/>
                </a:solidFill>
              </a:rPr>
              <a:t>0.3715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15200" y="4206240"/>
            <a:ext cx="2240280" cy="457200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06640" y="429768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142A4E"/>
                </a:solidFill>
              </a:rPr>
              <a:t>0.3704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01200" y="4206240"/>
            <a:ext cx="2240280" cy="457200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92640" y="429768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1E884A"/>
                </a:solidFill>
              </a:rPr>
              <a:t>−0.11 pp ✓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4709160"/>
            <a:ext cx="2606040" cy="457200"/>
          </a:xfrm>
          <a:prstGeom prst="rect">
            <a:avLst/>
          </a:prstGeom>
          <a:solidFill>
            <a:srgbClr val="ECECEC"/>
          </a:solidFill>
          <a:ln>
            <a:solidFill>
              <a:srgbClr val="EC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8640" y="4800600"/>
            <a:ext cx="2651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142A4E"/>
                </a:solidFill>
              </a:rPr>
              <a:t>CloudPhysics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108960" y="4709160"/>
            <a:ext cx="1965960" cy="457200"/>
          </a:xfrm>
          <a:prstGeom prst="rect">
            <a:avLst/>
          </a:prstGeom>
          <a:solidFill>
            <a:srgbClr val="ECECEC"/>
          </a:solidFill>
          <a:ln>
            <a:solidFill>
              <a:srgbClr val="EC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0" y="4800600"/>
            <a:ext cx="2011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142A4E"/>
                </a:solidFill>
              </a:rPr>
              <a:t>5,000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120640" y="4709160"/>
            <a:ext cx="2148840" cy="457200"/>
          </a:xfrm>
          <a:prstGeom prst="rect">
            <a:avLst/>
          </a:prstGeom>
          <a:solidFill>
            <a:srgbClr val="ECECEC"/>
          </a:solidFill>
          <a:ln>
            <a:solidFill>
              <a:srgbClr val="EC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212080" y="4800600"/>
            <a:ext cx="21945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142A4E"/>
                </a:solidFill>
              </a:rPr>
              <a:t>0.7482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315200" y="4709160"/>
            <a:ext cx="2240280" cy="457200"/>
          </a:xfrm>
          <a:prstGeom prst="rect">
            <a:avLst/>
          </a:prstGeom>
          <a:solidFill>
            <a:srgbClr val="ECECEC"/>
          </a:solidFill>
          <a:ln>
            <a:solidFill>
              <a:srgbClr val="EC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406640" y="480060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142A4E"/>
                </a:solidFill>
              </a:rPr>
              <a:t>0.7365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601200" y="4709160"/>
            <a:ext cx="2240280" cy="457200"/>
          </a:xfrm>
          <a:prstGeom prst="rect">
            <a:avLst/>
          </a:prstGeom>
          <a:solidFill>
            <a:srgbClr val="ECECEC"/>
          </a:solidFill>
          <a:ln>
            <a:solidFill>
              <a:srgbClr val="EC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692640" y="480060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1E884A"/>
                </a:solidFill>
              </a:rPr>
              <a:t>−1.17 pp ✓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 i="0">
                <a:solidFill>
                  <a:srgbClr val="1E884A"/>
                </a:solidFill>
              </a:rPr>
              <a:t>Headline at this point: V4 wins on 6/6 real cells. Largest single win: −1.71 pp on cluster52 / cluster45.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1">
                <a:solidFill>
                  <a:srgbClr val="C0392B"/>
                </a:solidFill>
              </a:rPr>
              <a:t>But: this is V4 vs S3-FIFO at T=1, S=10%. Not the right baseline.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A4E"/>
          </a:solidFill>
          <a:ln>
            <a:solidFill>
              <a:srgbClr val="14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honest result: tuning beats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Three same-knob-count ablations against the right baselines.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75720" cy="1005840"/>
          </a:xfrm>
          <a:prstGeom prst="rect">
            <a:avLst/>
          </a:prstGeom>
          <a:solidFill>
            <a:srgbClr val="F4F4F4"/>
          </a:solidFill>
          <a:ln>
            <a:solidFill>
              <a:srgbClr val="14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155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Baselines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11556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OptS = best of S3-FIFO with S ∈ {0.01, 0.05, 0.10, 0.25} at T=1.   OptST = best of S3-FIFO with S ∈ {0.01, 0.05, 0.10, 0.25} × T ∈ {1, 2, 3}.   All numbers per-cell, post-hoc.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31720"/>
            <a:ext cx="11475720" cy="3703320"/>
          </a:xfrm>
          <a:prstGeom prst="rect">
            <a:avLst/>
          </a:prstGeom>
          <a:solidFill>
            <a:srgbClr val="F4F4F4"/>
          </a:solidFill>
          <a:ln>
            <a:solidFill>
              <a:srgbClr val="14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11155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142A4E"/>
                </a:solidFill>
              </a:rPr>
              <a:t>Cross-trace tally — 14 traces, 28 effective cells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6858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555555"/>
                </a:solidFill>
              </a:rPr>
              <a:t>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3108960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 i="0">
                <a:solidFill>
                  <a:srgbClr val="555555"/>
                </a:solidFill>
              </a:rPr>
              <a:t>Wins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3108960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 i="0">
                <a:solidFill>
                  <a:srgbClr val="555555"/>
                </a:solidFill>
              </a:rPr>
              <a:t>Losses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3108960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 i="0">
                <a:solidFill>
                  <a:srgbClr val="555555"/>
                </a:solidFill>
              </a:rPr>
              <a:t>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03320"/>
            <a:ext cx="69494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 i="0">
                <a:solidFill>
                  <a:srgbClr val="142A4E"/>
                </a:solidFill>
              </a:rPr>
              <a:t>V4  vs  OptST           (gate vs full-grid tuning)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3703320"/>
            <a:ext cx="10972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 i="0">
                <a:solidFill>
                  <a:srgbClr val="1E884A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3703320"/>
            <a:ext cx="10972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 i="0">
                <a:solidFill>
                  <a:srgbClr val="C0392B"/>
                </a:solidFill>
              </a:rPr>
              <a:t>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3703320"/>
            <a:ext cx="10972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 i="0">
                <a:solidFill>
                  <a:srgbClr val="555555"/>
                </a:solidFill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389120"/>
            <a:ext cx="69494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 i="0">
                <a:solidFill>
                  <a:srgbClr val="142A4E"/>
                </a:solidFill>
              </a:rPr>
              <a:t>V4 + OptS  vs  OptST    (gate + S sweep vs full-grid tuning)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389120"/>
            <a:ext cx="10972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 i="0">
                <a:solidFill>
                  <a:srgbClr val="1E884A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4389120"/>
            <a:ext cx="10972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 i="0">
                <a:solidFill>
                  <a:srgbClr val="C0392B"/>
                </a:solidFill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4389120"/>
            <a:ext cx="10972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 i="0">
                <a:solidFill>
                  <a:srgbClr val="555555"/>
                </a:solidFill>
              </a:rPr>
              <a:t>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074920"/>
            <a:ext cx="69494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 i="0">
                <a:solidFill>
                  <a:srgbClr val="142A4E"/>
                </a:solidFill>
              </a:rPr>
              <a:t>V4 + OptS  vs  OptS     (same-knob-count ablation)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5074920"/>
            <a:ext cx="10972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 i="0">
                <a:solidFill>
                  <a:srgbClr val="1E884A"/>
                </a:solidFill>
              </a:rPr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5074920"/>
            <a:ext cx="10972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 i="0">
                <a:solidFill>
                  <a:srgbClr val="C0392B"/>
                </a:solidFill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5074920"/>
            <a:ext cx="10972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 i="0">
                <a:solidFill>
                  <a:srgbClr val="555555"/>
                </a:solidFill>
              </a:rPr>
              <a:t>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217920"/>
            <a:ext cx="11430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Traces (14): Twitter cluster26, 45, 50, 52  ·  MSR hm_0, proj_0, prxy_0  ·  Alibaba 110, 185  ·  CloudPhysics, w105  ·  Wiki, meta_reag  ·  Meta block1.  (cluster10 excluded — zero signal.)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537960"/>
            <a:ext cx="11430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14 traces × 2 cache sizes = 28 effective cells. 500k requests per cell where applicable.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A4E"/>
          </a:solidFill>
          <a:ln>
            <a:solidFill>
              <a:srgbClr val="14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Where learned caching matters — and where it doesn't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56692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 i="0">
                <a:solidFill>
                  <a:srgbClr val="1E884A"/>
                </a:solidFill>
              </a:rPr>
              <a:t>✔  When learning helps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142A4E"/>
                </a:solidFill>
              </a:rPr>
              <a:t>•  The right policy is conditional — "promote when X is true" — and a static knob can't express the condition.</a:t>
            </a:r>
          </a:p>
          <a:p>
            <a:pPr lvl="1" algn="l">
              <a:spcAft>
                <a:spcPts val="400"/>
              </a:spcAft>
            </a:pPr>
            <a:r>
              <a:rPr sz="1200">
                <a:solidFill>
                  <a:srgbClr val="142A4E"/>
                </a:solidFill>
              </a:rPr>
              <a:t>  –  CloudPhysics cache=5,000  (Δ −1.72 pp vs OptS)</a:t>
            </a:r>
          </a:p>
          <a:p>
            <a:pPr lvl="1" algn="l">
              <a:spcAft>
                <a:spcPts val="400"/>
              </a:spcAft>
            </a:pPr>
            <a:r>
              <a:rPr sz="1200">
                <a:solidFill>
                  <a:srgbClr val="142A4E"/>
                </a:solidFill>
              </a:rPr>
              <a:t>  –  w_recency = −1.08 dominates;  OptS 0.7505 → V4+OptS 0.7333.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42A4E"/>
                </a:solidFill>
              </a:rPr>
              <a:t>•  Heavy-tailed workload where "promote almost nothing" is right, and the gate auto-discovers it.</a:t>
            </a:r>
          </a:p>
          <a:p>
            <a:pPr lvl="1" algn="l">
              <a:spcAft>
                <a:spcPts val="400"/>
              </a:spcAft>
            </a:pPr>
            <a:r>
              <a:rPr sz="1200">
                <a:solidFill>
                  <a:srgbClr val="142A4E"/>
                </a:solidFill>
              </a:rPr>
              <a:t>  –  Twitter cluster52 cache=1,000  (Δ −1.01 pp vs OptS)</a:t>
            </a:r>
          </a:p>
          <a:p>
            <a:pPr lvl="1" algn="l">
              <a:spcAft>
                <a:spcPts val="400"/>
              </a:spcAft>
            </a:pPr>
            <a:r>
              <a:rPr sz="1200">
                <a:solidFill>
                  <a:srgbClr val="142A4E"/>
                </a:solidFill>
              </a:rPr>
              <a:t>  –  Gate converges to z_max ≈ −1.8;  OptS 0.3234 → V4+OptS 0.3133.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42A4E"/>
                </a:solidFill>
              </a:rPr>
              <a:t>•  Common thread: the trace's reuse structure has variance the W-windowed Belady label can capture.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051560"/>
            <a:ext cx="56692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✘  When learning fails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64592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142A4E"/>
                </a:solidFill>
              </a:rPr>
              <a:t>•  The W-windowed Belady label cuts through a sharp peak in the trace's reuse-distance distribution.</a:t>
            </a:r>
          </a:p>
          <a:p>
            <a:pPr lvl="1" algn="l">
              <a:spcAft>
                <a:spcPts val="400"/>
              </a:spcAft>
            </a:pPr>
            <a:r>
              <a:rPr sz="1200">
                <a:solidFill>
                  <a:srgbClr val="142A4E"/>
                </a:solidFill>
              </a:rPr>
              <a:t>  –  msr_prxy_0 cache=1,000  (V4+OptS +8.23 pp WORSE)</a:t>
            </a:r>
          </a:p>
          <a:p>
            <a:pPr lvl="1" algn="l">
              <a:spcAft>
                <a:spcPts val="400"/>
              </a:spcAft>
            </a:pPr>
            <a:r>
              <a:rPr sz="1200">
                <a:solidFill>
                  <a:srgbClr val="142A4E"/>
                </a:solidFill>
              </a:rPr>
              <a:t>  –  77% of reuses at distance 1024–2047; W=1,000 calls them all y=0.</a:t>
            </a:r>
          </a:p>
          <a:p>
            <a:pPr lvl="1" algn="l">
              <a:spcAft>
                <a:spcPts val="400"/>
              </a:spcAft>
            </a:pPr>
            <a:r>
              <a:rPr sz="1200">
                <a:solidFill>
                  <a:srgbClr val="142A4E"/>
                </a:solidFill>
              </a:rPr>
              <a:t>  –  Gate demotes them; they all come back at ~1,500. Verified by histogram.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4526280"/>
            <a:ext cx="5669280" cy="2194560"/>
          </a:xfrm>
          <a:prstGeom prst="rect">
            <a:avLst/>
          </a:prstGeom>
          <a:solidFill>
            <a:srgbClr val="F8F8F8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4617720"/>
            <a:ext cx="53949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1">
                <a:solidFill>
                  <a:srgbClr val="555555"/>
                </a:solidFill>
              </a:rPr>
              <a:t>Other speculative mechanisms (no clean trace example):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5029200"/>
            <a:ext cx="5394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555555"/>
                </a:solidFill>
              </a:rPr>
              <a:t>•  Permissive labels at large cache — almost everything has y=1, gate has no negative examples to learn from.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555555"/>
                </a:solidFill>
              </a:rPr>
              <a:t>•  Learning too aggressive or too conservative — weight magnitudes pushing decisions to extremes (or near the bias).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555555"/>
                </a:solidFill>
              </a:rPr>
              <a:t>•  Coefficient noise / non-convergence — SGD doesn't settle within trace length; weights drift.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555555"/>
                </a:solidFill>
              </a:rPr>
              <a:t>•  Off-policy data distribution — gate trains on data its own past decisions admitted.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A4E"/>
          </a:solidFill>
          <a:ln>
            <a:solidFill>
              <a:srgbClr val="14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11475720" cy="1325880"/>
          </a:xfrm>
          <a:prstGeom prst="rect">
            <a:avLst/>
          </a:prstGeom>
          <a:solidFill>
            <a:srgbClr val="F4F4F4"/>
          </a:solidFill>
          <a:ln>
            <a:solidFill>
              <a:srgbClr val="14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 i="0">
                <a:solidFill>
                  <a:srgbClr val="142A4E"/>
                </a:solidFill>
              </a:rPr>
              <a:t>•  Diagnose the failure modes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1069848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–  measure y=1 fraction at decision time   ·   track SGD weight trajectories   ·   alternative label horizons (W = 0.5·cache, 2·cache)   ·   pairwise loss à la HALP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880360"/>
            <a:ext cx="11475720" cy="1325880"/>
          </a:xfrm>
          <a:prstGeom prst="rect">
            <a:avLst/>
          </a:prstGeom>
          <a:solidFill>
            <a:srgbClr val="F4F4F4"/>
          </a:solidFill>
          <a:ln>
            <a:solidFill>
              <a:srgbClr val="14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 i="0">
                <a:solidFill>
                  <a:srgbClr val="142A4E"/>
                </a:solidFill>
              </a:rPr>
              <a:t>•  Add richer, cache-wide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11880"/>
            <a:ext cx="1069848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–  lifetime hits   ·   ghost-hit count   ·   rolling MR over last K requests   ·   current S occupancy   ·   age-distribution percentile of x   ·   log(size) on real-size traces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389120"/>
            <a:ext cx="11475720" cy="1325880"/>
          </a:xfrm>
          <a:prstGeom prst="rect">
            <a:avLst/>
          </a:prstGeom>
          <a:solidFill>
            <a:srgbClr val="F4F4F4"/>
          </a:solidFill>
          <a:ln>
            <a:solidFill>
              <a:srgbClr val="14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 i="0">
                <a:solidFill>
                  <a:srgbClr val="142A4E"/>
                </a:solidFill>
              </a:rPr>
              <a:t>•  Apply the gate at more decision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120640"/>
            <a:ext cx="1069848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–  M-eviction gate (same model, second binary classifier inside S3-FIFO; ~50 LoC)   ·   admission to S   ·   mirror-descent |S| sizer to replace the EXP3 attempt that didn't converge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263640"/>
            <a:ext cx="11430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1">
                <a:solidFill>
                  <a:srgbClr val="C0392B"/>
                </a:solidFill>
              </a:rPr>
              <a:t>Highest expected lift: M-eviction gate.   Most diagnostic value: actual decision-time label distributions.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E"/>
          </a:solidFill>
          <a:ln>
            <a:solidFill>
              <a:srgbClr val="14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Thanks —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 i="0">
                <a:solidFill>
                  <a:srgbClr val="E0E0E0"/>
                </a:solidFill>
              </a:rPr>
              <a:t>Code:  plugins/learned_promotion.py  (V4 family)</a:t>
            </a:r>
          </a:p>
          <a:p>
            <a:pPr algn="l"/>
            <a:r>
              <a:rPr sz="1600" b="0" i="0">
                <a:solidFill>
                  <a:srgbClr val="E0E0E0"/>
                </a:solidFill>
              </a:rPr>
              <a:t>Sweep:  plugins/sweep14.py  ·  plugins/sweep14_report.py</a:t>
            </a:r>
          </a:p>
          <a:p>
            <a:pPr algn="l"/>
            <a:r>
              <a:rPr sz="1600" b="0" i="0">
                <a:solidFill>
                  <a:srgbClr val="E0E0E0"/>
                </a:solidFill>
              </a:rPr>
              <a:t>Numbers come from libCacheSim's canonical baselines + a Python harness for the gate.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