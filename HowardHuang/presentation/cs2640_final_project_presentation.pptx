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KQsxF/uiQ2MzLj1GBLb568Iz9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37474F"/>
                </a:solidFill>
                <a:latin typeface="Arial"/>
              </a:defRPr>
            </a:pPr>
            <a:r>
              <a:rPr sz="1100" b="0" i="0" u="none" strike="noStrike">
                <a:solidFill>
                  <a:srgbClr val="37474F"/>
                </a:solidFill>
                <a:latin typeface="Arial"/>
              </a:rPr>
              <a:t>RocksDB — Ops/sec by Workload &amp; Device</a:t>
            </a:r>
          </a:p>
        </c:rich>
      </c:tx>
      <c:layout/>
      <c:overlay val="0"/>
    </c:title>
    <c:autoTitleDeleted val="0"/>
    <c:plotArea>
      <c:layout/>
      <c:barChart>
        <c:barDir val="col"/>
        <c:grouping val="clustered"/>
        <c:varyColors val="0"/>
        <c:ser>
          <c:idx val="0"/>
          <c:order val="0"/>
          <c:tx>
            <c:strRef>
              <c:f>Sheet1!$B$1</c:f>
              <c:strCache>
                <c:ptCount val="1"/>
                <c:pt idx="0">
                  <c:v>Native NVMe</c:v>
                </c:pt>
              </c:strCache>
            </c:strRef>
          </c:tx>
          <c:spPr>
            <a:solidFill>
              <a:srgbClr val="156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fillseq</c:v>
                  </c:pt>
                  <c:pt idx="1">
                    <c:v>fillrandom</c:v>
                  </c:pt>
                  <c:pt idx="2">
                    <c:v>readrandom</c:v>
                  </c:pt>
                  <c:pt idx="3">
                    <c:v>overwrite</c:v>
                  </c:pt>
                </c:lvl>
              </c:multiLvlStrCache>
            </c:multiLvlStrRef>
          </c:cat>
          <c:val>
            <c:numRef>
              <c:f>Sheet1!$B$2:$B$5</c:f>
              <c:numCache>
                <c:formatCode>General</c:formatCode>
                <c:ptCount val="4"/>
                <c:pt idx="0">
                  <c:v>610000</c:v>
                </c:pt>
                <c:pt idx="1">
                  <c:v>280000</c:v>
                </c:pt>
                <c:pt idx="2">
                  <c:v>82000</c:v>
                </c:pt>
                <c:pt idx="3">
                  <c:v>262000</c:v>
                </c:pt>
              </c:numCache>
            </c:numRef>
          </c:val>
        </c:ser>
        <c:ser>
          <c:idx val="1"/>
          <c:order val="1"/>
          <c:tx>
            <c:strRef>
              <c:f>Sheet1!$C$1</c:f>
              <c:strCache>
                <c:ptCount val="1"/>
                <c:pt idx="0">
                  <c:v>Emulated Conv</c:v>
                </c:pt>
              </c:strCache>
            </c:strRef>
          </c:tx>
          <c:spPr>
            <a:solidFill>
              <a:srgbClr val="E651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fillseq</c:v>
                  </c:pt>
                  <c:pt idx="1">
                    <c:v>fillrandom</c:v>
                  </c:pt>
                  <c:pt idx="2">
                    <c:v>readrandom</c:v>
                  </c:pt>
                  <c:pt idx="3">
                    <c:v>overwrite</c:v>
                  </c:pt>
                </c:lvl>
              </c:multiLvlStrCache>
            </c:multiLvlStrRef>
          </c:cat>
          <c:val>
            <c:numRef>
              <c:f>Sheet1!$C$2:$C$5</c:f>
              <c:numCache>
                <c:formatCode>General</c:formatCode>
                <c:ptCount val="4"/>
                <c:pt idx="0">
                  <c:v>245000</c:v>
                </c:pt>
                <c:pt idx="1">
                  <c:v>113000</c:v>
                </c:pt>
                <c:pt idx="2">
                  <c:v>31000</c:v>
                </c:pt>
                <c:pt idx="3">
                  <c:v>104000</c:v>
                </c:pt>
              </c:numCache>
            </c:numRef>
          </c:val>
        </c:ser>
        <c:ser>
          <c:idx val="2"/>
          <c:order val="2"/>
          <c:tx>
            <c:strRef>
              <c:f>Sheet1!$D$1</c:f>
              <c:strCache>
                <c:ptCount val="1"/>
                <c:pt idx="0">
                  <c:v>Emulated FDP</c:v>
                </c:pt>
              </c:strCache>
            </c:strRef>
          </c:tx>
          <c:spPr>
            <a:solidFill>
              <a:srgbClr val="2E7D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fillseq</c:v>
                  </c:pt>
                  <c:pt idx="1">
                    <c:v>fillrandom</c:v>
                  </c:pt>
                  <c:pt idx="2">
                    <c:v>readrandom</c:v>
                  </c:pt>
                  <c:pt idx="3">
                    <c:v>overwrite</c:v>
                  </c:pt>
                </c:lvl>
              </c:multiLvlStrCache>
            </c:multiLvlStrRef>
          </c:cat>
          <c:val>
            <c:numRef>
              <c:f>Sheet1!$D$2:$D$5</c:f>
              <c:numCache>
                <c:formatCode>General</c:formatCode>
                <c:ptCount val="4"/>
                <c:pt idx="0">
                  <c:v>368000</c:v>
                </c:pt>
                <c:pt idx="1">
                  <c:v>167000</c:v>
                </c:pt>
                <c:pt idx="2">
                  <c:v>48000</c:v>
                </c:pt>
                <c:pt idx="3">
                  <c:v>155000</c:v>
                </c:pt>
              </c:numCache>
            </c:numRef>
          </c:val>
        </c:ser>
        <c:ser>
          <c:idx val="3"/>
          <c:order val="3"/>
          <c:tx>
            <c:strRef>
              <c:f>Sheet1!$E$1</c:f>
              <c:strCache>
                <c:ptCount val="1"/>
                <c:pt idx="0">
                  <c:v>Emulated ZNS</c:v>
                </c:pt>
              </c:strCache>
            </c:strRef>
          </c:tx>
          <c:spPr>
            <a:solidFill>
              <a:srgbClr val="B71C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fillseq</c:v>
                  </c:pt>
                  <c:pt idx="1">
                    <c:v>fillrandom</c:v>
                  </c:pt>
                  <c:pt idx="2">
                    <c:v>readrandom</c:v>
                  </c:pt>
                  <c:pt idx="3">
                    <c:v>overwrite</c:v>
                  </c:pt>
                </c:lvl>
              </c:multiLvlStrCache>
            </c:multiLvlStrRef>
          </c:cat>
          <c:val>
            <c:numRef>
              <c:f>Sheet1!$E$2:$E$5</c:f>
              <c:numCache>
                <c:formatCode>General</c:formatCode>
                <c:ptCount val="4"/>
                <c:pt idx="0">
                  <c:v>398000</c:v>
                </c:pt>
                <c:pt idx="1">
                  <c:v>184000</c:v>
                </c:pt>
                <c:pt idx="2">
                  <c:v>52000</c:v>
                </c:pt>
                <c:pt idx="3">
                  <c:v>170000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7F9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37474F"/>
                </a:solidFill>
                <a:latin typeface="Arial"/>
              </a:defRPr>
            </a:pPr>
            <a:r>
              <a:rPr sz="1100" b="0" i="0" u="none" strike="noStrike">
                <a:solidFill>
                  <a:srgbClr val="37474F"/>
                </a:solidFill>
                <a:latin typeface="Arial"/>
              </a:rPr>
              <a:t>MongoDB YCSB — Ops/sec by Workload &amp; Device</a:t>
            </a:r>
          </a:p>
        </c:rich>
      </c:tx>
      <c:layout/>
      <c:overlay val="0"/>
    </c:title>
    <c:autoTitleDeleted val="0"/>
    <c:plotArea>
      <c:layout/>
      <c:barChart>
        <c:barDir val="col"/>
        <c:grouping val="clustered"/>
        <c:varyColors val="0"/>
        <c:ser>
          <c:idx val="0"/>
          <c:order val="0"/>
          <c:tx>
            <c:strRef>
              <c:f>Sheet1!$B$1</c:f>
              <c:strCache>
                <c:ptCount val="1"/>
                <c:pt idx="0">
                  <c:v>Native NVMe</c:v>
                </c:pt>
              </c:strCache>
            </c:strRef>
          </c:tx>
          <c:spPr>
            <a:solidFill>
              <a:srgbClr val="156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Workload A
50R/50W</c:v>
                  </c:pt>
                  <c:pt idx="1">
                    <c:v>Workload B
95R/5W</c:v>
                  </c:pt>
                  <c:pt idx="2">
                    <c:v>Workload C
100R</c:v>
                  </c:pt>
                  <c:pt idx="3">
                    <c:v>Workload F
50R/RMW</c:v>
                  </c:pt>
                </c:lvl>
              </c:multiLvlStrCache>
            </c:multiLvlStrRef>
          </c:cat>
          <c:val>
            <c:numRef>
              <c:f>Sheet1!$B$2:$B$5</c:f>
              <c:numCache>
                <c:formatCode>General</c:formatCode>
                <c:ptCount val="4"/>
                <c:pt idx="0">
                  <c:v>33000</c:v>
                </c:pt>
                <c:pt idx="1">
                  <c:v>38000</c:v>
                </c:pt>
                <c:pt idx="2">
                  <c:v>39300</c:v>
                </c:pt>
                <c:pt idx="3">
                  <c:v>24700</c:v>
                </c:pt>
              </c:numCache>
            </c:numRef>
          </c:val>
        </c:ser>
        <c:ser>
          <c:idx val="1"/>
          <c:order val="1"/>
          <c:tx>
            <c:strRef>
              <c:f>Sheet1!$C$1</c:f>
              <c:strCache>
                <c:ptCount val="1"/>
                <c:pt idx="0">
                  <c:v>Emulated Conv</c:v>
                </c:pt>
              </c:strCache>
            </c:strRef>
          </c:tx>
          <c:spPr>
            <a:solidFill>
              <a:srgbClr val="E651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Workload A
50R/50W</c:v>
                  </c:pt>
                  <c:pt idx="1">
                    <c:v>Workload B
95R/5W</c:v>
                  </c:pt>
                  <c:pt idx="2">
                    <c:v>Workload C
100R</c:v>
                  </c:pt>
                  <c:pt idx="3">
                    <c:v>Workload F
50R/RMW</c:v>
                  </c:pt>
                </c:lvl>
              </c:multiLvlStrCache>
            </c:multiLvlStrRef>
          </c:cat>
          <c:val>
            <c:numRef>
              <c:f>Sheet1!$C$2:$C$5</c:f>
              <c:numCache>
                <c:formatCode>General</c:formatCode>
                <c:ptCount val="4"/>
                <c:pt idx="0">
                  <c:v>15000</c:v>
                </c:pt>
                <c:pt idx="1">
                  <c:v>17200</c:v>
                </c:pt>
                <c:pt idx="2">
                  <c:v>17700</c:v>
                </c:pt>
                <c:pt idx="3">
                  <c:v>11000</c:v>
                </c:pt>
              </c:numCache>
            </c:numRef>
          </c:val>
        </c:ser>
        <c:ser>
          <c:idx val="2"/>
          <c:order val="2"/>
          <c:tx>
            <c:strRef>
              <c:f>Sheet1!$D$1</c:f>
              <c:strCache>
                <c:ptCount val="1"/>
                <c:pt idx="0">
                  <c:v>Emulated FDP</c:v>
                </c:pt>
              </c:strCache>
            </c:strRef>
          </c:tx>
          <c:spPr>
            <a:solidFill>
              <a:srgbClr val="2E7D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Workload A
50R/50W</c:v>
                  </c:pt>
                  <c:pt idx="1">
                    <c:v>Workload B
95R/5W</c:v>
                  </c:pt>
                  <c:pt idx="2">
                    <c:v>Workload C
100R</c:v>
                  </c:pt>
                  <c:pt idx="3">
                    <c:v>Workload F
50R/RMW</c:v>
                  </c:pt>
                </c:lvl>
              </c:multiLvlStrCache>
            </c:multiLvlStrRef>
          </c:cat>
          <c:val>
            <c:numRef>
              <c:f>Sheet1!$D$2:$D$5</c:f>
              <c:numCache>
                <c:formatCode>General</c:formatCode>
                <c:ptCount val="4"/>
                <c:pt idx="0">
                  <c:v>18500</c:v>
                </c:pt>
                <c:pt idx="1">
                  <c:v>21000</c:v>
                </c:pt>
                <c:pt idx="2">
                  <c:v>21700</c:v>
                </c:pt>
                <c:pt idx="3">
                  <c:v>13700</c:v>
                </c:pt>
              </c:numCache>
            </c:numRef>
          </c:val>
        </c:ser>
        <c:ser>
          <c:idx val="3"/>
          <c:order val="3"/>
          <c:tx>
            <c:strRef>
              <c:f>Sheet1!$E$1</c:f>
              <c:strCache>
                <c:ptCount val="1"/>
                <c:pt idx="0">
                  <c:v>Emulated ZNS</c:v>
                </c:pt>
              </c:strCache>
            </c:strRef>
          </c:tx>
          <c:spPr>
            <a:solidFill>
              <a:srgbClr val="B71C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Workload A
50R/50W</c:v>
                  </c:pt>
                  <c:pt idx="1">
                    <c:v>Workload B
95R/5W</c:v>
                  </c:pt>
                  <c:pt idx="2">
                    <c:v>Workload C
100R</c:v>
                  </c:pt>
                  <c:pt idx="3">
                    <c:v>Workload F
50R/RMW</c:v>
                  </c:pt>
                </c:lvl>
              </c:multiLvlStrCache>
            </c:multiLvlStrRef>
          </c:cat>
          <c:val>
            <c:numRef>
              <c:f>Sheet1!$E$2:$E$5</c:f>
              <c:numCache>
                <c:formatCode>General</c:formatCode>
                <c:ptCount val="4"/>
                <c:pt idx="0">
                  <c:v>17200</c:v>
                </c:pt>
                <c:pt idx="1">
                  <c:v>20000</c:v>
                </c:pt>
                <c:pt idx="2">
                  <c:v>20500</c:v>
                </c:pt>
                <c:pt idx="3">
                  <c:v>13000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seconds]</a:t>
            </a:r>
            <a:br>
              <a:rPr lang="en-US"/>
            </a:br>
            <a:r>
              <a:rPr lang="en-US"/>
              <a:t>Hi everyone. Today I'm presenting my CS2640 final project: an evaluation of two next-generation NVMe storage protocols — Zoned Namespaces and Flexible Data Placement — with a focus on how they perform in real cloud database workloads.</a:t>
            </a:r>
            <a:br>
              <a:rPr lang="en-US"/>
            </a:br>
            <a:r>
              <a:rPr lang="en-US"/>
              <a:t>The core question I set out to answer: can these specs meaningfully reduce the write amplification that plagues log-structured systems like RocksDB and MongoDB?</a:t>
            </a:r>
            <a:br>
              <a:rPr lang="en-US"/>
            </a:br>
            <a:r>
              <a:rPr lang="en-US"/>
              <a:t>Let's start with the problem they're designed to solve.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a:t>
            </a:r>
            <a:br>
              <a:rPr lang="en-US"/>
            </a:br>
            <a:r>
              <a:rPr lang="en-US"/>
              <a:t>If you've worked with SSDs you've likely heard of the semantic gap. Here's the core tension.</a:t>
            </a:r>
            <a:br>
              <a:rPr lang="en-US"/>
            </a:br>
            <a:r>
              <a:rPr lang="en-US"/>
              <a:t>The traditional block interface treats an SSD as a flat, uniformly updatable array of sectors. But that's not how flash memory actually works. NAND requires out-of-place writes — you can't overwrite in-place — and erases happen at the coarse granularity of an entire erase block.</a:t>
            </a:r>
            <a:br>
              <a:rPr lang="en-US"/>
            </a:br>
            <a:r>
              <a:rPr lang="en-US"/>
              <a:t>The result for log-structured applications like RocksDB is the log-on-log problem. The app does its own compaction — moving live data into new SST files. Simultaneously, the SSD's Flash Translation Layer sees those writes as random and runs its own garbage collection pass, re-copying that same data.</a:t>
            </a:r>
            <a:br>
              <a:rPr lang="en-US"/>
            </a:br>
            <a:r>
              <a:rPr lang="en-US"/>
              <a:t>Two GC engines, copying the same bytes independently. Write Amplification Factors of 3x to 10x are common. That means tail latency spikes, degraded throughput, and a drive that wears out far faster than it should.</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[~75 seconds]</a:t>
            </a:r>
            <a:br>
              <a:rPr lang="en-US"/>
            </a:br>
            <a:r>
              <a:rPr lang="en-US"/>
              <a:t>Two NVMe specifications have emerged to fix this, and they represent opposite ends of the design philosophy spectrum.</a:t>
            </a:r>
            <a:br>
              <a:rPr lang="en-US"/>
            </a:br>
            <a:r>
              <a:rPr lang="en-US"/>
              <a:t>On the left: Zoned Namespaces, or ZNS. The drive is divided into strict append-only zones. The host software tracks a Write Pointer per zone and is entirely responsible for zone resets and garbage collection. There is literally no FTL GC happening on the device. WAF drops to exactly 1.0. That's the ceiling. The cost? You can't run ext4. Your entire software stack — filesystem, database engine — must be rewritten to understand zones.</a:t>
            </a:r>
            <a:br>
              <a:rPr lang="en-US"/>
            </a:br>
            <a:r>
              <a:rPr lang="en-US"/>
              <a:t>On the right: Flexible Data Placement, FDP. The block interface stays completely standard. POSIX works. ext4 works. The only addition is that writes can optionally carry a Placement Identifier hint. The drive uses that hint to group data with similar lifespans into Reclaim Units within a Reclaim Group, dramatically reducing how much garbage collection it has to do. You get roughly 90% of ZNS's WAF benefit with near-zero code changes.</a:t>
            </a:r>
            <a:br>
              <a:rPr lang="en-US"/>
            </a:br>
            <a:r>
              <a:rPr lang="en-US"/>
              <a:t>These diagrams show the architectural difference — ZNS at the bottom manages physical zones explicitly, while FDP layers hints on top of the existing interface.</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a:t>
            </a:r>
            <a:br>
              <a:rPr lang="en-US"/>
            </a:br>
            <a:r>
              <a:rPr lang="en-US"/>
              <a:t>To make the stakes concrete: look at this WAF comparison.</a:t>
            </a:r>
            <a:br>
              <a:rPr lang="en-US"/>
            </a:br>
            <a:r>
              <a:rPr lang="en-US"/>
              <a:t>A conventional SSD running a log-structured workload easily hits 6x write amplification. Every byte your app logically writes causes six bytes of actual flash writes. That burns through drive endurance and saturates the internal write bus.</a:t>
            </a:r>
            <a:br>
              <a:rPr lang="en-US"/>
            </a:br>
            <a:r>
              <a:rPr lang="en-US"/>
              <a:t>FDP brings that down to roughly 2x through lifetime-aware placement. ZNS hits the theoretical minimum of 1.0.</a:t>
            </a:r>
            <a:br>
              <a:rPr lang="en-US"/>
            </a:br>
            <a:r>
              <a:rPr lang="en-US"/>
              <a:t>Going from 6x to 1x means your write bandwidth is effectively 6 times larger, and your drive lasts six times longer under the same workload. That's not an academic improvement — at datacenter scale, that's tens of millions of dollars in hardware.</a:t>
            </a:r>
            <a:endParaRPr/>
          </a:p>
        </p:txBody>
      </p:sp>
      <p:sp>
        <p:nvSpPr>
          <p:cNvPr id="53" name="Google Shape;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seconds]</a:t>
            </a:r>
            <a:br>
              <a:rPr lang="en-US"/>
            </a:br>
            <a:r>
              <a:rPr lang="en-US"/>
              <a:t>The biggest practical challenge in this project wasn't the benchmarking — it was the hardware. Physical PCIe Gen 5 drives with native ZNS or FDP firmware are essentially unavailable right now. So I built a two-phase emulation pipeline.</a:t>
            </a:r>
            <a:br>
              <a:rPr lang="en-US"/>
            </a:br>
            <a:r>
              <a:rPr lang="en-US"/>
              <a:t>Phase one: local Docker on ARM hardware using QEMU's software translation mode — TCG. This let me bootstrap the environment and validate compilation, but TCG is slow, and I hit memory limits building large projects like RocksDB. I bypassed this by injecting pre-compiled binaries directly.</a:t>
            </a:r>
            <a:br>
              <a:rPr lang="en-US"/>
            </a:br>
            <a:r>
              <a:rPr lang="en-US"/>
              <a:t>Phase two: I migrated to CloudLab bare-metal nodes — specifically the d760 and c6525-100g configurations. These give real high-bandwidth NVMe for the native baseline. On top of that, I ran QEMU backed by KVM acceleration to emulate ZNS and FDP namespaces with much higher fidelity.</a:t>
            </a:r>
            <a:endParaRPr/>
          </a:p>
        </p:txBody>
      </p:sp>
      <p:sp>
        <p:nvSpPr>
          <p:cNvPr id="67" name="Google Shape;6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seconds]</a:t>
            </a:r>
            <a:br>
              <a:rPr lang="en-US"/>
            </a:br>
            <a:r>
              <a:rPr lang="en-US"/>
              <a:t>The automated test harness runs three layers of workloads.</a:t>
            </a:r>
            <a:br>
              <a:rPr lang="en-US"/>
            </a:br>
            <a:r>
              <a:rPr lang="en-US"/>
              <a:t>First, FIO synthetic traces modeled after Meta's CacheLib CDN traffic, using the io_uring_cmd NVMe passthrough interface. This validated that device-level WAF really does approach 1.0 on ZNS — the emulation is working correctly.</a:t>
            </a:r>
            <a:br>
              <a:rPr lang="en-US"/>
            </a:br>
            <a:r>
              <a:rPr lang="en-US"/>
              <a:t>Second, RocksDB's db_bench tool: sequential fills, random fills, random reads, and overwrites. These stress LSM-tree compaction and expose GC interference directly.</a:t>
            </a:r>
            <a:br>
              <a:rPr lang="en-US"/>
            </a:br>
            <a:r>
              <a:rPr lang="en-US"/>
              <a:t>Third, the Yahoo Cloud Serving Benchmark against MongoDB — one million document records across four workload profiles ranging from write-heavy to read-only. This is where filesystem and OS overhead matters most.</a:t>
            </a:r>
            <a:endParaRPr/>
          </a:p>
        </p:txBody>
      </p:sp>
      <p:sp>
        <p:nvSpPr>
          <p:cNvPr id="76" name="Google Shape;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[~55 seconds]</a:t>
            </a:r>
            <a:br>
              <a:rPr lang="en-US"/>
            </a:br>
            <a:r>
              <a:rPr lang="en-US"/>
              <a:t>The RocksDB results tell a clear story.</a:t>
            </a:r>
            <a:br>
              <a:rPr lang="en-US"/>
            </a:br>
            <a:r>
              <a:rPr lang="en-US"/>
              <a:t>Native NVMe, as expected, dominates — peaking at 610,000 ops per second on sequential fills. That's our ceiling, the best possible result on this hardware.</a:t>
            </a:r>
            <a:br>
              <a:rPr lang="en-US"/>
            </a:br>
            <a:r>
              <a:rPr lang="en-US"/>
              <a:t>The critical comparison is among the emulated namespaces. Conventional block emulation suffers from FTL GC interference. ZNS, by eliminating that entirely, outperformed conventional emulation by about 62% on fillseq. FDP sat comfortably between the two.</a:t>
            </a:r>
            <a:br>
              <a:rPr lang="en-US"/>
            </a:br>
            <a:r>
              <a:rPr lang="en-US"/>
              <a:t>Notice that on fillrandom and overwrite, all emulated configurations pull closer together. Random writes are inherently harder to place efficiently, so the WAF advantages compress — but ZNS and FDP still consistently lead Conv.</a:t>
            </a:r>
            <a:br>
              <a:rPr lang="en-US"/>
            </a:br>
            <a:r>
              <a:rPr lang="en-US"/>
              <a:t>The emulation tax is visible too: Native vs emulated is a large gap driven by CPU overhead in QEMU, not by the protocols themselves.</a:t>
            </a:r>
            <a:endParaRPr/>
          </a:p>
        </p:txBody>
      </p:sp>
      <p:sp>
        <p:nvSpPr>
          <p:cNvPr id="97" name="Google Shape;9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[~55 seconds]</a:t>
            </a:r>
            <a:br>
              <a:rPr lang="en-US"/>
            </a:br>
            <a:r>
              <a:rPr lang="en-US"/>
              <a:t>MongoDB shows a slightly different story, and it highlights an important practical consideration.</a:t>
            </a:r>
            <a:br>
              <a:rPr lang="en-US"/>
            </a:br>
            <a:r>
              <a:rPr lang="en-US"/>
              <a:t>ZNS falls back relative to its RocksDB performance. The reason: ZNS cannot run ext4. It requires a zone-aware filesystem like f2fs to provide host-side address translation. Under QEMU software emulation, that host-side translation layer adds a non-trivial CPU penalty, and it shows up here.</a:t>
            </a:r>
            <a:br>
              <a:rPr lang="en-US"/>
            </a:br>
            <a:r>
              <a:rPr lang="en-US"/>
              <a:t>FDP, by contrast, allows MongoDB to use standard ext4 with POSIX I/O. The PID hints are injected transparently without changing the filesystem path at all. In workloads B and C — which are read-heavy — FDP pulls slightly ahead of ZNS precisely because of this lower overhead.</a:t>
            </a:r>
            <a:br>
              <a:rPr lang="en-US"/>
            </a:br>
            <a:r>
              <a:rPr lang="en-US"/>
              <a:t>The takeaway: in filesystem-dependent workloads, FDP's pragmatic design actually beats ZNS, even though ZNS has the theoretically superior WAF profile.</a:t>
            </a:r>
            <a:endParaRPr/>
          </a:p>
        </p:txBody>
      </p:sp>
      <p:sp>
        <p:nvSpPr>
          <p:cNvPr id="110" name="Google Shape;11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a:t>
            </a:r>
            <a:br>
              <a:rPr lang="en-US"/>
            </a:br>
            <a:r>
              <a:rPr lang="en-US"/>
              <a:t>Three key learnings from this project.</a:t>
            </a:r>
            <a:br>
              <a:rPr lang="en-US"/>
            </a:br>
            <a:r>
              <a:rPr lang="en-US"/>
              <a:t>First: the virtualization tax is real and significant. QEMU introduces I/O wait that inflates latency numbers and caps throughput at CPU emulation limits rather than flash cell limits. Any latency metrics in microseconds from this setup should be interpreted with that caveat.</a:t>
            </a:r>
            <a:br>
              <a:rPr lang="en-US"/>
            </a:br>
            <a:r>
              <a:rPr lang="en-US"/>
              <a:t>Second: QEMU 6.2 on CloudLab has immature FDP support. Getting FDP to work required complex workarounds — newer hypervisors and firmware will make this much cleaner.</a:t>
            </a:r>
            <a:br>
              <a:rPr lang="en-US"/>
            </a:br>
            <a:r>
              <a:rPr lang="en-US"/>
              <a:t>Third, and most importantly: the trade-off between ZNS and FDP is now extremely clear. ZNS gives you absolute WAF control but demands a complete software rearchitecture. FDP delivers roughly 90% of the benefit for near-zero engineering cost. For most production systems today, FDP is the right call.</a:t>
            </a:r>
            <a:endParaRPr/>
          </a:p>
        </p:txBody>
      </p:sp>
      <p:sp>
        <p:nvSpPr>
          <p:cNvPr id="121" name="Google Shape;12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a:t>
            </a:r>
            <a:br>
              <a:rPr lang="en-US"/>
            </a:br>
            <a:r>
              <a:rPr lang="en-US"/>
              <a:t>Looking ahead, two concrete next steps.</a:t>
            </a:r>
            <a:br>
              <a:rPr lang="en-US"/>
            </a:br>
            <a:r>
              <a:rPr lang="en-US"/>
              <a:t>The immediate priority is hardware. I want to run this exact harness on physical PCIe Gen 5 drives with native firmware — no emulation layer — to get ground-truth latency distributions at nanosecond granularity.</a:t>
            </a:r>
            <a:br>
              <a:rPr lang="en-US"/>
            </a:br>
            <a:r>
              <a:rPr lang="en-US"/>
              <a:t>The more ambitious goal — what I called the 125% proposal — is an eBPF auto-placement module. Instead of requiring developers to manually inject FDP placement hints into their application code, I want to write a kernel-level eBPF program that intercepts file descriptor I/O at the syscall layer and autonomously routes writes to the correct Placement Identifier based on access patterns.</a:t>
            </a:r>
            <a:br>
              <a:rPr lang="en-US"/>
            </a:br>
            <a:r>
              <a:rPr lang="en-US"/>
              <a:t>The end goal: a legacy application like an unmodified MongoDB or PostgreSQL gets the full FDP benefit with zero source code changes. Just load the eBPF module and walk away.</a:t>
            </a:r>
            <a:endParaRPr/>
          </a:p>
        </p:txBody>
      </p:sp>
      <p:sp>
        <p:nvSpPr>
          <p:cNvPr id="139" name="Google Shape;1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 seconds]</a:t>
            </a:r>
            <a:br>
              <a:rPr lang="en-US"/>
            </a:br>
            <a:r>
              <a:rPr lang="en-US"/>
              <a:t>To summarize the four key points: the semantic gap is real and expensive. ZNS solves it completely but at an enormous engineering cost. FDP solves it pragmatically with near-zero friction. And eBPF auto-placement is the path to making that benefit universally accessible.</a:t>
            </a:r>
            <a:br>
              <a:rPr lang="en-US"/>
            </a:br>
            <a:r>
              <a:rPr lang="en-US"/>
              <a:t>Thank you — happy to take questions.</a:t>
            </a:r>
            <a:endParaRPr/>
          </a:p>
        </p:txBody>
      </p:sp>
      <p:sp>
        <p:nvSpPr>
          <p:cNvPr id="152" name="Google Shape;15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951"/>
        </a:solidFill>
      </p:bgPr>
    </p:bg>
    <p:spTree>
      <p:nvGrpSpPr>
        <p:cNvPr id="15" name="Shape 15"/>
        <p:cNvGrpSpPr/>
        <p:nvPr/>
      </p:nvGrpSpPr>
      <p:grpSpPr>
        <a:xfrm>
          <a:off x="0" y="0"/>
          <a:ext cx="0" cy="0"/>
          <a:chOff x="0" y="0"/>
          <a:chExt cx="0" cy="0"/>
        </a:xfrm>
      </p:grpSpPr>
      <p:sp>
        <p:nvSpPr>
          <p:cNvPr id="16" name="Google Shape;16;p1"/>
          <p:cNvSpPr/>
          <p:nvPr/>
        </p:nvSpPr>
        <p:spPr>
          <a:xfrm>
            <a:off x="-1371600" y="-1371600"/>
            <a:ext cx="5486400" cy="5486400"/>
          </a:xfrm>
          <a:prstGeom prst="ellipse">
            <a:avLst/>
          </a:prstGeom>
          <a:solidFill>
            <a:srgbClr val="243B6E">
              <a:alpha val="60000"/>
            </a:srgbClr>
          </a:solidFill>
          <a:ln cap="flat" cmpd="sng" w="12700">
            <a:solidFill>
              <a:srgbClr val="243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943600" y="2286000"/>
            <a:ext cx="4572000" cy="4572000"/>
          </a:xfrm>
          <a:prstGeom prst="ellipse">
            <a:avLst/>
          </a:prstGeom>
          <a:solidFill>
            <a:srgbClr val="243B6E">
              <a:alpha val="60000"/>
            </a:srgbClr>
          </a:solidFill>
          <a:ln cap="flat" cmpd="sng" w="12700">
            <a:solidFill>
              <a:srgbClr val="243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48640" y="1234440"/>
            <a:ext cx="804672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alibri"/>
              <a:buNone/>
            </a:pPr>
            <a:r>
              <a:rPr b="1" lang="en-US" sz="4200">
                <a:solidFill>
                  <a:srgbClr val="FFFFFF"/>
                </a:solidFill>
                <a:latin typeface="Calibri"/>
                <a:ea typeface="Calibri"/>
                <a:cs typeface="Calibri"/>
                <a:sym typeface="Calibri"/>
              </a:rPr>
              <a:t>Evaluation of ZNS and FDP</a:t>
            </a:r>
            <a:endParaRPr b="0" i="0" sz="4200" u="none" cap="none" strike="noStrike">
              <a:solidFill>
                <a:schemeClr val="dk1"/>
              </a:solidFill>
              <a:latin typeface="Calibri"/>
              <a:ea typeface="Calibri"/>
              <a:cs typeface="Calibri"/>
              <a:sym typeface="Calibri"/>
            </a:endParaRPr>
          </a:p>
        </p:txBody>
      </p:sp>
      <p:sp>
        <p:nvSpPr>
          <p:cNvPr id="19" name="Google Shape;19;p1"/>
          <p:cNvSpPr/>
          <p:nvPr/>
        </p:nvSpPr>
        <p:spPr>
          <a:xfrm>
            <a:off x="2743200" y="3017520"/>
            <a:ext cx="3657600" cy="36576"/>
          </a:xfrm>
          <a:prstGeom prst="rect">
            <a:avLst/>
          </a:prstGeom>
          <a:solidFill>
            <a:srgbClr val="4FC3F7"/>
          </a:solidFill>
          <a:ln cap="flat" cmpd="sng" w="12700">
            <a:solidFill>
              <a:srgbClr val="4FC3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548640" y="3291840"/>
            <a:ext cx="80467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0BDD8"/>
              </a:buClr>
              <a:buSzPts val="1500"/>
              <a:buFont typeface="Calibri"/>
              <a:buNone/>
            </a:pPr>
            <a:r>
              <a:rPr b="0" i="0" lang="en-US" sz="1500" u="none" cap="none" strike="noStrike">
                <a:solidFill>
                  <a:srgbClr val="A0BDD8"/>
                </a:solidFill>
                <a:latin typeface="Calibri"/>
                <a:ea typeface="Calibri"/>
                <a:cs typeface="Calibri"/>
                <a:sym typeface="Calibri"/>
              </a:rPr>
              <a:t>Howard Huang  ·  CS2640</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5" name="Shape 25"/>
        <p:cNvGrpSpPr/>
        <p:nvPr/>
      </p:nvGrpSpPr>
      <p:grpSpPr>
        <a:xfrm>
          <a:off x="0" y="0"/>
          <a:ext cx="0" cy="0"/>
          <a:chOff x="0" y="0"/>
          <a:chExt cx="0" cy="0"/>
        </a:xfrm>
      </p:grpSpPr>
      <p:sp>
        <p:nvSpPr>
          <p:cNvPr id="26" name="Google Shape;26;p2"/>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The Problem: The Semantic Gap</a:t>
            </a:r>
            <a:endParaRPr b="0" i="0" sz="3000" u="none" cap="none" strike="noStrike">
              <a:solidFill>
                <a:schemeClr val="dk1"/>
              </a:solidFill>
              <a:latin typeface="Calibri"/>
              <a:ea typeface="Calibri"/>
              <a:cs typeface="Calibri"/>
              <a:sym typeface="Calibri"/>
            </a:endParaRPr>
          </a:p>
        </p:txBody>
      </p:sp>
      <p:pic>
        <p:nvPicPr>
          <p:cNvPr descr="preencoded.png" id="27" name="Google Shape;27;p2"/>
          <p:cNvPicPr preferRelativeResize="0"/>
          <p:nvPr/>
        </p:nvPicPr>
        <p:blipFill rotWithShape="1">
          <a:blip r:embed="rId3">
            <a:alphaModFix/>
          </a:blip>
          <a:srcRect b="0" l="0" r="0" t="0"/>
          <a:stretch/>
        </p:blipFill>
        <p:spPr>
          <a:xfrm>
            <a:off x="264175" y="1490474"/>
            <a:ext cx="5486402" cy="2504601"/>
          </a:xfrm>
          <a:prstGeom prst="rect">
            <a:avLst/>
          </a:prstGeom>
          <a:noFill/>
          <a:ln>
            <a:noFill/>
          </a:ln>
        </p:spPr>
      </p:pic>
      <p:sp>
        <p:nvSpPr>
          <p:cNvPr id="28" name="Google Shape;28;p2"/>
          <p:cNvSpPr/>
          <p:nvPr/>
        </p:nvSpPr>
        <p:spPr>
          <a:xfrm>
            <a:off x="5989320" y="868680"/>
            <a:ext cx="2880360" cy="658368"/>
          </a:xfrm>
          <a:prstGeom prst="rect">
            <a:avLst/>
          </a:prstGeom>
          <a:solidFill>
            <a:srgbClr val="EBF5FB"/>
          </a:solidFill>
          <a:ln cap="flat" cmpd="sng" w="12700">
            <a:solidFill>
              <a:srgbClr val="AED6F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080760" y="923544"/>
            <a:ext cx="269748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5276"/>
              </a:buClr>
              <a:buSzPts val="1100"/>
              <a:buFont typeface="Calibri"/>
              <a:buNone/>
            </a:pPr>
            <a:r>
              <a:rPr b="1" i="0" lang="en-US" sz="1100" u="none" cap="none" strike="noStrike">
                <a:solidFill>
                  <a:srgbClr val="1A5276"/>
                </a:solidFill>
                <a:latin typeface="Calibri"/>
                <a:ea typeface="Calibri"/>
                <a:cs typeface="Calibri"/>
                <a:sym typeface="Calibri"/>
              </a:rPr>
              <a:t>Legacy Block Interface</a:t>
            </a:r>
            <a:br>
              <a:rPr b="1" i="0" lang="en-US" sz="1100" u="none" cap="none" strike="noStrike">
                <a:solidFill>
                  <a:srgbClr val="1A5276"/>
                </a:solidFill>
                <a:latin typeface="Calibri"/>
                <a:ea typeface="Calibri"/>
                <a:cs typeface="Calibri"/>
                <a:sym typeface="Calibri"/>
              </a:rPr>
            </a:br>
            <a:r>
              <a:rPr b="0" i="0" lang="en-US" sz="950" u="none" cap="none" strike="noStrike">
                <a:solidFill>
                  <a:srgbClr val="263238"/>
                </a:solidFill>
                <a:latin typeface="Calibri"/>
                <a:ea typeface="Calibri"/>
                <a:cs typeface="Calibri"/>
                <a:sym typeface="Calibri"/>
              </a:rPr>
              <a:t>Treats SSDs as uniform, updatable arrays — ignores flash physics.</a:t>
            </a:r>
            <a:endParaRPr b="0" i="0" sz="1100" u="none" cap="none" strike="noStrike">
              <a:solidFill>
                <a:schemeClr val="dk1"/>
              </a:solidFill>
              <a:latin typeface="Calibri"/>
              <a:ea typeface="Calibri"/>
              <a:cs typeface="Calibri"/>
              <a:sym typeface="Calibri"/>
            </a:endParaRPr>
          </a:p>
        </p:txBody>
      </p:sp>
      <p:sp>
        <p:nvSpPr>
          <p:cNvPr id="30" name="Google Shape;30;p2"/>
          <p:cNvSpPr/>
          <p:nvPr/>
        </p:nvSpPr>
        <p:spPr>
          <a:xfrm>
            <a:off x="5989320" y="1618488"/>
            <a:ext cx="2880360" cy="658368"/>
          </a:xfrm>
          <a:prstGeom prst="rect">
            <a:avLst/>
          </a:prstGeom>
          <a:solidFill>
            <a:srgbClr val="EBF5FB"/>
          </a:solidFill>
          <a:ln cap="flat" cmpd="sng" w="12700">
            <a:solidFill>
              <a:srgbClr val="AED6F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080760" y="1673352"/>
            <a:ext cx="269748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5276"/>
              </a:buClr>
              <a:buSzPts val="1100"/>
              <a:buFont typeface="Calibri"/>
              <a:buNone/>
            </a:pPr>
            <a:r>
              <a:rPr b="1" i="0" lang="en-US" sz="1100" u="none" cap="none" strike="noStrike">
                <a:solidFill>
                  <a:srgbClr val="1A5276"/>
                </a:solidFill>
                <a:latin typeface="Calibri"/>
                <a:ea typeface="Calibri"/>
                <a:cs typeface="Calibri"/>
                <a:sym typeface="Calibri"/>
              </a:rPr>
              <a:t>NAND Reality</a:t>
            </a:r>
            <a:br>
              <a:rPr b="1" i="0" lang="en-US" sz="1100" u="none" cap="none" strike="noStrike">
                <a:solidFill>
                  <a:srgbClr val="1A5276"/>
                </a:solidFill>
                <a:latin typeface="Calibri"/>
                <a:ea typeface="Calibri"/>
                <a:cs typeface="Calibri"/>
                <a:sym typeface="Calibri"/>
              </a:rPr>
            </a:br>
            <a:r>
              <a:rPr b="0" i="0" lang="en-US" sz="950" u="none" cap="none" strike="noStrike">
                <a:solidFill>
                  <a:srgbClr val="263238"/>
                </a:solidFill>
                <a:latin typeface="Calibri"/>
                <a:ea typeface="Calibri"/>
                <a:cs typeface="Calibri"/>
                <a:sym typeface="Calibri"/>
              </a:rPr>
              <a:t>Flash requires out-of-place writes &amp; coarse-grained erase blocks.</a:t>
            </a:r>
            <a:endParaRPr b="0" i="0" sz="1100" u="none" cap="none" strike="noStrike">
              <a:solidFill>
                <a:schemeClr val="dk1"/>
              </a:solidFill>
              <a:latin typeface="Calibri"/>
              <a:ea typeface="Calibri"/>
              <a:cs typeface="Calibri"/>
              <a:sym typeface="Calibri"/>
            </a:endParaRPr>
          </a:p>
        </p:txBody>
      </p:sp>
      <p:sp>
        <p:nvSpPr>
          <p:cNvPr id="32" name="Google Shape;32;p2"/>
          <p:cNvSpPr/>
          <p:nvPr/>
        </p:nvSpPr>
        <p:spPr>
          <a:xfrm>
            <a:off x="5989320" y="2368296"/>
            <a:ext cx="2880360" cy="658368"/>
          </a:xfrm>
          <a:prstGeom prst="rect">
            <a:avLst/>
          </a:prstGeom>
          <a:solidFill>
            <a:srgbClr val="FDEDEC"/>
          </a:solidFill>
          <a:ln cap="flat" cmpd="sng" w="12700">
            <a:solidFill>
              <a:srgbClr val="F1948A"/>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080760" y="2423160"/>
            <a:ext cx="269748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2B21"/>
              </a:buClr>
              <a:buSzPts val="1100"/>
              <a:buFont typeface="Calibri"/>
              <a:buNone/>
            </a:pPr>
            <a:r>
              <a:rPr b="1" i="0" lang="en-US" sz="1100" u="none" cap="none" strike="noStrike">
                <a:solidFill>
                  <a:srgbClr val="922B21"/>
                </a:solidFill>
                <a:latin typeface="Calibri"/>
                <a:ea typeface="Calibri"/>
                <a:cs typeface="Calibri"/>
                <a:sym typeface="Calibri"/>
              </a:rPr>
              <a:t>Log-on-Log Problem</a:t>
            </a:r>
            <a:br>
              <a:rPr b="1" i="0" lang="en-US" sz="1100" u="none" cap="none" strike="noStrike">
                <a:solidFill>
                  <a:srgbClr val="922B21"/>
                </a:solidFill>
                <a:latin typeface="Calibri"/>
                <a:ea typeface="Calibri"/>
                <a:cs typeface="Calibri"/>
                <a:sym typeface="Calibri"/>
              </a:rPr>
            </a:br>
            <a:r>
              <a:rPr b="0" i="0" lang="en-US" sz="950" u="none" cap="none" strike="noStrike">
                <a:solidFill>
                  <a:srgbClr val="263238"/>
                </a:solidFill>
                <a:latin typeface="Calibri"/>
                <a:ea typeface="Calibri"/>
                <a:cs typeface="Calibri"/>
                <a:sym typeface="Calibri"/>
              </a:rPr>
              <a:t>App GC + FTL GC independently copy the same data → WAF 3-10×.</a:t>
            </a:r>
            <a:endParaRPr b="0" i="0" sz="1100" u="none" cap="none" strike="noStrike">
              <a:solidFill>
                <a:schemeClr val="dk1"/>
              </a:solidFill>
              <a:latin typeface="Calibri"/>
              <a:ea typeface="Calibri"/>
              <a:cs typeface="Calibri"/>
              <a:sym typeface="Calibri"/>
            </a:endParaRPr>
          </a:p>
        </p:txBody>
      </p:sp>
      <p:sp>
        <p:nvSpPr>
          <p:cNvPr id="34" name="Google Shape;34;p2"/>
          <p:cNvSpPr/>
          <p:nvPr/>
        </p:nvSpPr>
        <p:spPr>
          <a:xfrm>
            <a:off x="5989320" y="3118104"/>
            <a:ext cx="2880360" cy="658368"/>
          </a:xfrm>
          <a:prstGeom prst="rect">
            <a:avLst/>
          </a:prstGeom>
          <a:solidFill>
            <a:srgbClr val="FDEDEC"/>
          </a:solidFill>
          <a:ln cap="flat" cmpd="sng" w="12700">
            <a:solidFill>
              <a:srgbClr val="F1948A"/>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080760" y="3172968"/>
            <a:ext cx="2697480" cy="566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2B21"/>
              </a:buClr>
              <a:buSzPts val="1100"/>
              <a:buFont typeface="Calibri"/>
              <a:buNone/>
            </a:pPr>
            <a:r>
              <a:rPr b="1" i="0" lang="en-US" sz="1100" u="none" cap="none" strike="noStrike">
                <a:solidFill>
                  <a:srgbClr val="922B21"/>
                </a:solidFill>
                <a:latin typeface="Calibri"/>
                <a:ea typeface="Calibri"/>
                <a:cs typeface="Calibri"/>
                <a:sym typeface="Calibri"/>
              </a:rPr>
              <a:t>Consequence</a:t>
            </a:r>
            <a:br>
              <a:rPr b="1" i="0" lang="en-US" sz="1100" u="none" cap="none" strike="noStrike">
                <a:solidFill>
                  <a:srgbClr val="922B21"/>
                </a:solidFill>
                <a:latin typeface="Calibri"/>
                <a:ea typeface="Calibri"/>
                <a:cs typeface="Calibri"/>
                <a:sym typeface="Calibri"/>
              </a:rPr>
            </a:br>
            <a:r>
              <a:rPr b="0" i="0" lang="en-US" sz="950" u="none" cap="none" strike="noStrike">
                <a:solidFill>
                  <a:srgbClr val="263238"/>
                </a:solidFill>
                <a:latin typeface="Calibri"/>
                <a:ea typeface="Calibri"/>
                <a:cs typeface="Calibri"/>
                <a:sym typeface="Calibri"/>
              </a:rPr>
              <a:t>Tail latency spikes, degraded throughput, reduced drive lifespan.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0" name="Shape 40"/>
        <p:cNvGrpSpPr/>
        <p:nvPr/>
      </p:nvGrpSpPr>
      <p:grpSpPr>
        <a:xfrm>
          <a:off x="0" y="0"/>
          <a:ext cx="0" cy="0"/>
          <a:chOff x="0" y="0"/>
          <a:chExt cx="0" cy="0"/>
        </a:xfrm>
      </p:grpSpPr>
      <p:sp>
        <p:nvSpPr>
          <p:cNvPr id="41" name="Google Shape;41;p3"/>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Bridging the Gap: Two Paradigms</a:t>
            </a:r>
            <a:endParaRPr b="0" i="0" sz="3000" u="none" cap="none" strike="noStrike">
              <a:solidFill>
                <a:schemeClr val="dk1"/>
              </a:solidFill>
              <a:latin typeface="Calibri"/>
              <a:ea typeface="Calibri"/>
              <a:cs typeface="Calibri"/>
              <a:sym typeface="Calibri"/>
            </a:endParaRPr>
          </a:p>
        </p:txBody>
      </p:sp>
      <p:sp>
        <p:nvSpPr>
          <p:cNvPr id="42" name="Google Shape;42;p3"/>
          <p:cNvSpPr/>
          <p:nvPr/>
        </p:nvSpPr>
        <p:spPr>
          <a:xfrm>
            <a:off x="274320" y="804672"/>
            <a:ext cx="4206240" cy="1828800"/>
          </a:xfrm>
          <a:prstGeom prst="rect">
            <a:avLst/>
          </a:prstGeom>
          <a:solidFill>
            <a:srgbClr val="EBF5FB"/>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365760" y="850392"/>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5276"/>
              </a:buClr>
              <a:buSzPts val="1300"/>
              <a:buFont typeface="Calibri"/>
              <a:buNone/>
            </a:pPr>
            <a:r>
              <a:rPr b="1" i="0" lang="en-US" sz="1300" u="none" cap="none" strike="noStrike">
                <a:solidFill>
                  <a:srgbClr val="1A5276"/>
                </a:solidFill>
                <a:latin typeface="Calibri"/>
                <a:ea typeface="Calibri"/>
                <a:cs typeface="Calibri"/>
                <a:sym typeface="Calibri"/>
              </a:rPr>
              <a:t>Zoned Namespaces (ZNS)</a:t>
            </a:r>
            <a:endParaRPr b="0" i="0" sz="1300" u="none" cap="none" strike="noStrike">
              <a:solidFill>
                <a:schemeClr val="dk1"/>
              </a:solidFill>
              <a:latin typeface="Calibri"/>
              <a:ea typeface="Calibri"/>
              <a:cs typeface="Calibri"/>
              <a:sym typeface="Calibri"/>
            </a:endParaRPr>
          </a:p>
        </p:txBody>
      </p:sp>
      <p:sp>
        <p:nvSpPr>
          <p:cNvPr id="44" name="Google Shape;44;p3"/>
          <p:cNvSpPr/>
          <p:nvPr/>
        </p:nvSpPr>
        <p:spPr>
          <a:xfrm>
            <a:off x="365760" y="1207008"/>
            <a:ext cx="4023360" cy="1325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Strict append-only zones</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Host manages Write Pointers</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WAF approaches 1.0 (no FTL GC)</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Full software rewrite required</a:t>
            </a:r>
            <a:endParaRPr b="0" i="0" sz="1100" u="none" cap="none" strike="noStrike">
              <a:solidFill>
                <a:schemeClr val="dk1"/>
              </a:solidFill>
              <a:latin typeface="Calibri"/>
              <a:ea typeface="Calibri"/>
              <a:cs typeface="Calibri"/>
              <a:sym typeface="Calibri"/>
            </a:endParaRPr>
          </a:p>
        </p:txBody>
      </p:sp>
      <p:sp>
        <p:nvSpPr>
          <p:cNvPr id="45" name="Google Shape;45;p3"/>
          <p:cNvSpPr/>
          <p:nvPr/>
        </p:nvSpPr>
        <p:spPr>
          <a:xfrm>
            <a:off x="4663440" y="804672"/>
            <a:ext cx="4206240" cy="1828800"/>
          </a:xfrm>
          <a:prstGeom prst="rect">
            <a:avLst/>
          </a:prstGeom>
          <a:solidFill>
            <a:srgbClr val="EAFAF1"/>
          </a:solidFill>
          <a:ln cap="flat" cmpd="sng" w="19050">
            <a:solidFill>
              <a:srgbClr val="27AE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754880" y="850392"/>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449"/>
              </a:buClr>
              <a:buSzPts val="1300"/>
              <a:buFont typeface="Calibri"/>
              <a:buNone/>
            </a:pPr>
            <a:r>
              <a:rPr b="1" i="0" lang="en-US" sz="1300" u="none" cap="none" strike="noStrike">
                <a:solidFill>
                  <a:srgbClr val="1E8449"/>
                </a:solidFill>
                <a:latin typeface="Calibri"/>
                <a:ea typeface="Calibri"/>
                <a:cs typeface="Calibri"/>
                <a:sym typeface="Calibri"/>
              </a:rPr>
              <a:t>Flexible Data Placement (FDP)</a:t>
            </a:r>
            <a:endParaRPr b="0" i="0" sz="1300" u="none" cap="none" strike="noStrike">
              <a:solidFill>
                <a:schemeClr val="dk1"/>
              </a:solidFill>
              <a:latin typeface="Calibri"/>
              <a:ea typeface="Calibri"/>
              <a:cs typeface="Calibri"/>
              <a:sym typeface="Calibri"/>
            </a:endParaRPr>
          </a:p>
        </p:txBody>
      </p:sp>
      <p:sp>
        <p:nvSpPr>
          <p:cNvPr id="47" name="Google Shape;47;p3"/>
          <p:cNvSpPr/>
          <p:nvPr/>
        </p:nvSpPr>
        <p:spPr>
          <a:xfrm>
            <a:off x="4754880" y="1207008"/>
            <a:ext cx="4023360" cy="1325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Maintains standard block interface</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Host passes Placement ID hints</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~90% WAF reduction, zero friction</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Backward-compatible, POSIX-native</a:t>
            </a:r>
            <a:endParaRPr b="0" i="0" sz="1100" u="none" cap="none" strike="noStrike">
              <a:solidFill>
                <a:schemeClr val="dk1"/>
              </a:solidFill>
              <a:latin typeface="Calibri"/>
              <a:ea typeface="Calibri"/>
              <a:cs typeface="Calibri"/>
              <a:sym typeface="Calibri"/>
            </a:endParaRPr>
          </a:p>
        </p:txBody>
      </p:sp>
      <p:pic>
        <p:nvPicPr>
          <p:cNvPr descr="preencoded.png" id="48" name="Google Shape;48;p3"/>
          <p:cNvPicPr preferRelativeResize="0"/>
          <p:nvPr/>
        </p:nvPicPr>
        <p:blipFill rotWithShape="1">
          <a:blip r:embed="rId3">
            <a:alphaModFix/>
          </a:blip>
          <a:srcRect b="0" l="0" r="0" t="0"/>
          <a:stretch/>
        </p:blipFill>
        <p:spPr>
          <a:xfrm>
            <a:off x="274320" y="2743200"/>
            <a:ext cx="4206240" cy="2103120"/>
          </a:xfrm>
          <a:prstGeom prst="rect">
            <a:avLst/>
          </a:prstGeom>
          <a:noFill/>
          <a:ln>
            <a:noFill/>
          </a:ln>
        </p:spPr>
      </p:pic>
      <p:pic>
        <p:nvPicPr>
          <p:cNvPr descr="preencoded.png" id="49" name="Google Shape;49;p3"/>
          <p:cNvPicPr preferRelativeResize="0"/>
          <p:nvPr/>
        </p:nvPicPr>
        <p:blipFill rotWithShape="1">
          <a:blip r:embed="rId4">
            <a:alphaModFix/>
          </a:blip>
          <a:srcRect b="0" l="0" r="0" t="0"/>
          <a:stretch/>
        </p:blipFill>
        <p:spPr>
          <a:xfrm>
            <a:off x="4663440" y="2743200"/>
            <a:ext cx="4206240" cy="21031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4" name="Shape 54"/>
        <p:cNvGrpSpPr/>
        <p:nvPr/>
      </p:nvGrpSpPr>
      <p:grpSpPr>
        <a:xfrm>
          <a:off x="0" y="0"/>
          <a:ext cx="0" cy="0"/>
          <a:chOff x="0" y="0"/>
          <a:chExt cx="0" cy="0"/>
        </a:xfrm>
      </p:grpSpPr>
      <p:sp>
        <p:nvSpPr>
          <p:cNvPr id="55" name="Google Shape;55;p4"/>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Why It Matters: Write Amplification</a:t>
            </a:r>
            <a:endParaRPr b="0" i="0" sz="3000" u="none" cap="none" strike="noStrike">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3">
            <a:alphaModFix/>
          </a:blip>
          <a:srcRect b="0" l="0" r="0" t="0"/>
          <a:stretch/>
        </p:blipFill>
        <p:spPr>
          <a:xfrm>
            <a:off x="548640" y="822960"/>
            <a:ext cx="4937760" cy="2743200"/>
          </a:xfrm>
          <a:prstGeom prst="rect">
            <a:avLst/>
          </a:prstGeom>
          <a:noFill/>
          <a:ln>
            <a:noFill/>
          </a:ln>
        </p:spPr>
      </p:pic>
      <p:sp>
        <p:nvSpPr>
          <p:cNvPr id="57" name="Google Shape;57;p4"/>
          <p:cNvSpPr/>
          <p:nvPr/>
        </p:nvSpPr>
        <p:spPr>
          <a:xfrm>
            <a:off x="5943600" y="1005840"/>
            <a:ext cx="2926080" cy="777240"/>
          </a:xfrm>
          <a:prstGeom prst="rect">
            <a:avLst/>
          </a:prstGeom>
          <a:solidFill>
            <a:srgbClr val="FDEDEC"/>
          </a:solidFill>
          <a:ln cap="flat" cmpd="sng" w="19050">
            <a:solidFill>
              <a:srgbClr val="E74C3C"/>
            </a:solidFill>
            <a:prstDash val="solid"/>
            <a:round/>
            <a:headEnd len="sm" w="sm" type="none"/>
            <a:tailEnd len="sm" w="sm" type="none"/>
          </a:ln>
          <a:effectLst>
            <a:outerShdw blurRad="50800" rotWithShape="0" algn="bl" dir="8100000" dist="127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6035040" y="109728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74C3C"/>
              </a:buClr>
              <a:buSzPts val="2400"/>
              <a:buFont typeface="Calibri"/>
              <a:buNone/>
            </a:pPr>
            <a:r>
              <a:rPr b="1" i="0" lang="en-US" sz="2400" u="none" cap="none" strike="noStrike">
                <a:solidFill>
                  <a:srgbClr val="E74C3C"/>
                </a:solidFill>
                <a:latin typeface="Calibri"/>
                <a:ea typeface="Calibri"/>
                <a:cs typeface="Calibri"/>
                <a:sym typeface="Calibri"/>
              </a:rPr>
              <a:t>3×–10×  </a:t>
            </a:r>
            <a:r>
              <a:rPr b="0" i="0" lang="en-US" sz="1200" u="none" cap="none" strike="noStrike">
                <a:solidFill>
                  <a:srgbClr val="263238"/>
                </a:solidFill>
                <a:latin typeface="Calibri"/>
                <a:ea typeface="Calibri"/>
                <a:cs typeface="Calibri"/>
                <a:sym typeface="Calibri"/>
              </a:rPr>
              <a:t>Legacy WAF</a:t>
            </a:r>
            <a:endParaRPr b="0" i="0" sz="2400" u="none" cap="none" strike="noStrike">
              <a:solidFill>
                <a:schemeClr val="dk1"/>
              </a:solidFill>
              <a:latin typeface="Calibri"/>
              <a:ea typeface="Calibri"/>
              <a:cs typeface="Calibri"/>
              <a:sym typeface="Calibri"/>
            </a:endParaRPr>
          </a:p>
        </p:txBody>
      </p:sp>
      <p:sp>
        <p:nvSpPr>
          <p:cNvPr id="59" name="Google Shape;59;p4"/>
          <p:cNvSpPr/>
          <p:nvPr/>
        </p:nvSpPr>
        <p:spPr>
          <a:xfrm>
            <a:off x="5943600" y="1965960"/>
            <a:ext cx="2926080" cy="777240"/>
          </a:xfrm>
          <a:prstGeom prst="rect">
            <a:avLst/>
          </a:prstGeom>
          <a:solidFill>
            <a:srgbClr val="F5EEF8"/>
          </a:solidFill>
          <a:ln cap="flat" cmpd="sng" w="19050">
            <a:solidFill>
              <a:srgbClr val="8E44AD"/>
            </a:solidFill>
            <a:prstDash val="solid"/>
            <a:round/>
            <a:headEnd len="sm" w="sm" type="none"/>
            <a:tailEnd len="sm" w="sm" type="none"/>
          </a:ln>
          <a:effectLst>
            <a:outerShdw blurRad="50800" rotWithShape="0" algn="bl" dir="8100000" dist="127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035040" y="205740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44AD"/>
              </a:buClr>
              <a:buSzPts val="2400"/>
              <a:buFont typeface="Calibri"/>
              <a:buNone/>
            </a:pPr>
            <a:r>
              <a:rPr b="1" i="0" lang="en-US" sz="2400" u="none" cap="none" strike="noStrike">
                <a:solidFill>
                  <a:srgbClr val="8E44AD"/>
                </a:solidFill>
                <a:latin typeface="Calibri"/>
                <a:ea typeface="Calibri"/>
                <a:cs typeface="Calibri"/>
                <a:sym typeface="Calibri"/>
              </a:rPr>
              <a:t>~2×  </a:t>
            </a:r>
            <a:r>
              <a:rPr b="0" i="0" lang="en-US" sz="1200" u="none" cap="none" strike="noStrike">
                <a:solidFill>
                  <a:srgbClr val="263238"/>
                </a:solidFill>
                <a:latin typeface="Calibri"/>
                <a:ea typeface="Calibri"/>
                <a:cs typeface="Calibri"/>
                <a:sym typeface="Calibri"/>
              </a:rPr>
              <a:t>FDP WAF</a:t>
            </a:r>
            <a:endParaRPr b="0" i="0" sz="2400" u="none" cap="none" strike="noStrike">
              <a:solidFill>
                <a:schemeClr val="dk1"/>
              </a:solidFill>
              <a:latin typeface="Calibri"/>
              <a:ea typeface="Calibri"/>
              <a:cs typeface="Calibri"/>
              <a:sym typeface="Calibri"/>
            </a:endParaRPr>
          </a:p>
        </p:txBody>
      </p:sp>
      <p:sp>
        <p:nvSpPr>
          <p:cNvPr id="61" name="Google Shape;61;p4"/>
          <p:cNvSpPr/>
          <p:nvPr/>
        </p:nvSpPr>
        <p:spPr>
          <a:xfrm>
            <a:off x="5943600" y="2926080"/>
            <a:ext cx="2926080" cy="777240"/>
          </a:xfrm>
          <a:prstGeom prst="rect">
            <a:avLst/>
          </a:prstGeom>
          <a:solidFill>
            <a:srgbClr val="EAFAF1"/>
          </a:solidFill>
          <a:ln cap="flat" cmpd="sng" w="19050">
            <a:solidFill>
              <a:srgbClr val="27AE60"/>
            </a:solidFill>
            <a:prstDash val="solid"/>
            <a:round/>
            <a:headEnd len="sm" w="sm" type="none"/>
            <a:tailEnd len="sm" w="sm" type="none"/>
          </a:ln>
          <a:effectLst>
            <a:outerShdw blurRad="50800" rotWithShape="0" algn="bl" dir="8100000" dist="127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035040" y="301752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7AE60"/>
              </a:buClr>
              <a:buSzPts val="2400"/>
              <a:buFont typeface="Calibri"/>
              <a:buNone/>
            </a:pPr>
            <a:r>
              <a:rPr b="1" i="0" lang="en-US" sz="2400" u="none" cap="none" strike="noStrike">
                <a:solidFill>
                  <a:srgbClr val="27AE60"/>
                </a:solidFill>
                <a:latin typeface="Calibri"/>
                <a:ea typeface="Calibri"/>
                <a:cs typeface="Calibri"/>
                <a:sym typeface="Calibri"/>
              </a:rPr>
              <a:t>1.0×  </a:t>
            </a:r>
            <a:r>
              <a:rPr b="0" i="0" lang="en-US" sz="1200" u="none" cap="none" strike="noStrike">
                <a:solidFill>
                  <a:srgbClr val="263238"/>
                </a:solidFill>
                <a:latin typeface="Calibri"/>
                <a:ea typeface="Calibri"/>
                <a:cs typeface="Calibri"/>
                <a:sym typeface="Calibri"/>
              </a:rPr>
              <a:t>ZNS WAF</a:t>
            </a:r>
            <a:endParaRPr b="0" i="0" sz="2400" u="none" cap="none" strike="noStrike">
              <a:solidFill>
                <a:schemeClr val="dk1"/>
              </a:solidFill>
              <a:latin typeface="Calibri"/>
              <a:ea typeface="Calibri"/>
              <a:cs typeface="Calibri"/>
              <a:sym typeface="Calibri"/>
            </a:endParaRPr>
          </a:p>
        </p:txBody>
      </p:sp>
      <p:sp>
        <p:nvSpPr>
          <p:cNvPr id="63" name="Google Shape;63;p4"/>
          <p:cNvSpPr/>
          <p:nvPr/>
        </p:nvSpPr>
        <p:spPr>
          <a:xfrm>
            <a:off x="457200" y="3840480"/>
            <a:ext cx="82296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4A4A"/>
              </a:buClr>
              <a:buSzPts val="1200"/>
              <a:buFont typeface="Calibri"/>
              <a:buNone/>
            </a:pPr>
            <a:r>
              <a:rPr b="0" i="1" lang="en-US" sz="1200" u="none" cap="none" strike="noStrike">
                <a:solidFill>
                  <a:srgbClr val="4A4A4A"/>
                </a:solidFill>
                <a:latin typeface="Calibri"/>
                <a:ea typeface="Calibri"/>
                <a:cs typeface="Calibri"/>
                <a:sym typeface="Calibri"/>
              </a:rPr>
              <a:t>Reducing WAF from 6× to 1× means 6× more write bandwidth</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4A4A"/>
              </a:buClr>
              <a:buSzPts val="1200"/>
              <a:buFont typeface="Calibri"/>
              <a:buNone/>
            </a:pPr>
            <a:r>
              <a:rPr b="0" i="1" lang="en-US" sz="1200" u="none" cap="none" strike="noStrike">
                <a:solidFill>
                  <a:srgbClr val="4A4A4A"/>
                </a:solidFill>
                <a:latin typeface="Calibri"/>
                <a:ea typeface="Calibri"/>
                <a:cs typeface="Calibri"/>
                <a:sym typeface="Calibri"/>
              </a:rPr>
              <a:t>and dramatically longer SSD lifespan.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8" name="Shape 68"/>
        <p:cNvGrpSpPr/>
        <p:nvPr/>
      </p:nvGrpSpPr>
      <p:grpSpPr>
        <a:xfrm>
          <a:off x="0" y="0"/>
          <a:ext cx="0" cy="0"/>
          <a:chOff x="0" y="0"/>
          <a:chExt cx="0" cy="0"/>
        </a:xfrm>
      </p:grpSpPr>
      <p:sp>
        <p:nvSpPr>
          <p:cNvPr id="69" name="Google Shape;69;p5"/>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Emulation Methodology</a:t>
            </a:r>
            <a:endParaRPr b="0" i="0" sz="3000" u="none" cap="none" strike="noStrike">
              <a:solidFill>
                <a:schemeClr val="dk1"/>
              </a:solidFill>
              <a:latin typeface="Calibri"/>
              <a:ea typeface="Calibri"/>
              <a:cs typeface="Calibri"/>
              <a:sym typeface="Calibri"/>
            </a:endParaRPr>
          </a:p>
        </p:txBody>
      </p:sp>
      <p:sp>
        <p:nvSpPr>
          <p:cNvPr id="70" name="Google Shape;70;p5"/>
          <p:cNvSpPr/>
          <p:nvPr/>
        </p:nvSpPr>
        <p:spPr>
          <a:xfrm>
            <a:off x="457200" y="8229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0" i="1" lang="en-US" sz="1300" u="none" cap="none" strike="noStrike">
                <a:solidFill>
                  <a:srgbClr val="C0392B"/>
                </a:solidFill>
                <a:latin typeface="Calibri"/>
                <a:ea typeface="Calibri"/>
                <a:cs typeface="Calibri"/>
                <a:sym typeface="Calibri"/>
              </a:rPr>
              <a:t>Challenge: Physical Gen 5 SSDs with ZNS/FDP firmware are extremely scarce.</a:t>
            </a:r>
            <a:endParaRPr b="0" i="0" sz="1300" u="none" cap="none" strike="noStrike">
              <a:solidFill>
                <a:schemeClr val="dk1"/>
              </a:solidFill>
              <a:latin typeface="Calibri"/>
              <a:ea typeface="Calibri"/>
              <a:cs typeface="Calibri"/>
              <a:sym typeface="Calibri"/>
            </a:endParaRPr>
          </a:p>
        </p:txBody>
      </p:sp>
      <p:pic>
        <p:nvPicPr>
          <p:cNvPr descr="preencoded.png" id="71" name="Google Shape;71;p5"/>
          <p:cNvPicPr preferRelativeResize="0"/>
          <p:nvPr/>
        </p:nvPicPr>
        <p:blipFill rotWithShape="1">
          <a:blip r:embed="rId3">
            <a:alphaModFix/>
          </a:blip>
          <a:srcRect b="0" l="0" r="0" t="0"/>
          <a:stretch/>
        </p:blipFill>
        <p:spPr>
          <a:xfrm>
            <a:off x="274325" y="1234450"/>
            <a:ext cx="8595349" cy="3315100"/>
          </a:xfrm>
          <a:prstGeom prst="rect">
            <a:avLst/>
          </a:prstGeom>
          <a:noFill/>
          <a:ln>
            <a:noFill/>
          </a:ln>
        </p:spPr>
      </p:pic>
      <p:sp>
        <p:nvSpPr>
          <p:cNvPr id="72" name="Google Shape;72;p5"/>
          <p:cNvSpPr/>
          <p:nvPr/>
        </p:nvSpPr>
        <p:spPr>
          <a:xfrm>
            <a:off x="457200" y="4481245"/>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0A4AE"/>
              </a:buClr>
              <a:buSzPts val="1100"/>
              <a:buFont typeface="Calibri"/>
              <a:buNone/>
            </a:pPr>
            <a:r>
              <a:rPr b="0" i="1" lang="en-US" sz="1100" u="none" cap="none" strike="noStrike">
                <a:solidFill>
                  <a:srgbClr val="90A4AE"/>
                </a:solidFill>
                <a:latin typeface="Calibri"/>
                <a:ea typeface="Calibri"/>
                <a:cs typeface="Calibri"/>
                <a:sym typeface="Calibri"/>
              </a:rPr>
              <a:t>CloudLab nodes: d760 &amp; c6525-100g — high-bandwidth NVMe with KVM acceleration for high-fidelity emulation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7" name="Shape 77"/>
        <p:cNvGrpSpPr/>
        <p:nvPr/>
      </p:nvGrpSpPr>
      <p:grpSpPr>
        <a:xfrm>
          <a:off x="0" y="0"/>
          <a:ext cx="0" cy="0"/>
          <a:chOff x="0" y="0"/>
          <a:chExt cx="0" cy="0"/>
        </a:xfrm>
      </p:grpSpPr>
      <p:sp>
        <p:nvSpPr>
          <p:cNvPr id="78" name="Google Shape;78;p6"/>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Benchmark Workloads</a:t>
            </a:r>
            <a:endParaRPr b="0" i="0" sz="3000" u="none" cap="none" strike="noStrike">
              <a:solidFill>
                <a:schemeClr val="dk1"/>
              </a:solidFill>
              <a:latin typeface="Calibri"/>
              <a:ea typeface="Calibri"/>
              <a:cs typeface="Calibri"/>
              <a:sym typeface="Calibri"/>
            </a:endParaRPr>
          </a:p>
        </p:txBody>
      </p:sp>
      <p:sp>
        <p:nvSpPr>
          <p:cNvPr id="79" name="Google Shape;79;p6"/>
          <p:cNvSpPr/>
          <p:nvPr/>
        </p:nvSpPr>
        <p:spPr>
          <a:xfrm>
            <a:off x="320040" y="868680"/>
            <a:ext cx="8503920" cy="1143000"/>
          </a:xfrm>
          <a:prstGeom prst="rect">
            <a:avLst/>
          </a:prstGeom>
          <a:solidFill>
            <a:srgbClr val="EBF5FB"/>
          </a:solidFill>
          <a:ln cap="flat" cmpd="sng" w="19050">
            <a:solidFill>
              <a:srgbClr val="AED6F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457200" y="1124712"/>
            <a:ext cx="594360" cy="59436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457200" y="1124712"/>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82" name="Google Shape;82;p6"/>
          <p:cNvSpPr/>
          <p:nvPr/>
        </p:nvSpPr>
        <p:spPr>
          <a:xfrm>
            <a:off x="1234440" y="978408"/>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400"/>
              <a:buFont typeface="Calibri"/>
              <a:buNone/>
            </a:pPr>
            <a:r>
              <a:rPr b="1" i="0" lang="en-US" sz="1400" u="none" cap="none" strike="noStrike">
                <a:solidFill>
                  <a:srgbClr val="1565C0"/>
                </a:solidFill>
                <a:latin typeface="Calibri"/>
                <a:ea typeface="Calibri"/>
                <a:cs typeface="Calibri"/>
                <a:sym typeface="Calibri"/>
              </a:rPr>
              <a:t>FIO Synthetic Traces</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1234440" y="1371600"/>
            <a:ext cx="7315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Simulates CacheLib CDN workloads using io_uring_cmd NVMe passthrough. Validates device-level WAF approaches 1.0 on ZNS.</a:t>
            </a:r>
            <a:endParaRPr b="0" i="0" sz="1100" u="none" cap="none" strike="noStrike">
              <a:solidFill>
                <a:schemeClr val="dk1"/>
              </a:solidFill>
              <a:latin typeface="Calibri"/>
              <a:ea typeface="Calibri"/>
              <a:cs typeface="Calibri"/>
              <a:sym typeface="Calibri"/>
            </a:endParaRPr>
          </a:p>
        </p:txBody>
      </p:sp>
      <p:sp>
        <p:nvSpPr>
          <p:cNvPr id="84" name="Google Shape;84;p6"/>
          <p:cNvSpPr/>
          <p:nvPr/>
        </p:nvSpPr>
        <p:spPr>
          <a:xfrm>
            <a:off x="320040" y="2148840"/>
            <a:ext cx="8503920" cy="1143000"/>
          </a:xfrm>
          <a:prstGeom prst="rect">
            <a:avLst/>
          </a:prstGeom>
          <a:solidFill>
            <a:srgbClr val="EAFAF1"/>
          </a:solidFill>
          <a:ln cap="flat" cmpd="sng" w="19050">
            <a:solidFill>
              <a:srgbClr val="82E0AA"/>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57200" y="2404872"/>
            <a:ext cx="594360" cy="594360"/>
          </a:xfrm>
          <a:prstGeom prst="ellipse">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457200" y="2404872"/>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87" name="Google Shape;87;p6"/>
          <p:cNvSpPr/>
          <p:nvPr/>
        </p:nvSpPr>
        <p:spPr>
          <a:xfrm>
            <a:off x="1234440" y="2258568"/>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7AE60"/>
              </a:buClr>
              <a:buSzPts val="1400"/>
              <a:buFont typeface="Calibri"/>
              <a:buNone/>
            </a:pPr>
            <a:r>
              <a:rPr b="1" i="0" lang="en-US" sz="1400" u="none" cap="none" strike="noStrike">
                <a:solidFill>
                  <a:srgbClr val="27AE60"/>
                </a:solidFill>
                <a:latin typeface="Calibri"/>
                <a:ea typeface="Calibri"/>
                <a:cs typeface="Calibri"/>
                <a:sym typeface="Calibri"/>
              </a:rPr>
              <a:t>RocksDB — db_bench</a:t>
            </a:r>
            <a:endParaRPr b="0" i="0" sz="1400" u="none" cap="none" strike="noStrike">
              <a:solidFill>
                <a:schemeClr val="dk1"/>
              </a:solidFill>
              <a:latin typeface="Calibri"/>
              <a:ea typeface="Calibri"/>
              <a:cs typeface="Calibri"/>
              <a:sym typeface="Calibri"/>
            </a:endParaRPr>
          </a:p>
        </p:txBody>
      </p:sp>
      <p:sp>
        <p:nvSpPr>
          <p:cNvPr id="88" name="Google Shape;88;p6"/>
          <p:cNvSpPr/>
          <p:nvPr/>
        </p:nvSpPr>
        <p:spPr>
          <a:xfrm>
            <a:off x="1234440" y="2651760"/>
            <a:ext cx="7315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Key-value store benchmarks: fillseq, fillrandom, readrandom, overwrite. Stresses LSM-tree compaction and GC behavior.</a:t>
            </a:r>
            <a:endParaRPr b="0" i="0" sz="1100" u="none" cap="none" strike="noStrike">
              <a:solidFill>
                <a:schemeClr val="dk1"/>
              </a:solidFill>
              <a:latin typeface="Calibri"/>
              <a:ea typeface="Calibri"/>
              <a:cs typeface="Calibri"/>
              <a:sym typeface="Calibri"/>
            </a:endParaRPr>
          </a:p>
        </p:txBody>
      </p:sp>
      <p:sp>
        <p:nvSpPr>
          <p:cNvPr id="89" name="Google Shape;89;p6"/>
          <p:cNvSpPr/>
          <p:nvPr/>
        </p:nvSpPr>
        <p:spPr>
          <a:xfrm>
            <a:off x="320040" y="3429000"/>
            <a:ext cx="8503920" cy="1143000"/>
          </a:xfrm>
          <a:prstGeom prst="rect">
            <a:avLst/>
          </a:prstGeom>
          <a:solidFill>
            <a:srgbClr val="F5EEF8"/>
          </a:solidFill>
          <a:ln cap="flat" cmpd="sng" w="19050">
            <a:solidFill>
              <a:srgbClr val="D2B4DE"/>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57200" y="3685032"/>
            <a:ext cx="594360" cy="594360"/>
          </a:xfrm>
          <a:prstGeom prst="ellipse">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457200" y="3685032"/>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92" name="Google Shape;92;p6"/>
          <p:cNvSpPr/>
          <p:nvPr/>
        </p:nvSpPr>
        <p:spPr>
          <a:xfrm>
            <a:off x="1234440" y="3538728"/>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44AD"/>
              </a:buClr>
              <a:buSzPts val="1400"/>
              <a:buFont typeface="Calibri"/>
              <a:buNone/>
            </a:pPr>
            <a:r>
              <a:rPr b="1" i="0" lang="en-US" sz="1400" u="none" cap="none" strike="noStrike">
                <a:solidFill>
                  <a:srgbClr val="8E44AD"/>
                </a:solidFill>
                <a:latin typeface="Calibri"/>
                <a:ea typeface="Calibri"/>
                <a:cs typeface="Calibri"/>
                <a:sym typeface="Calibri"/>
              </a:rPr>
              <a:t>MongoDB — YCSB</a:t>
            </a:r>
            <a:endParaRPr b="0" i="0" sz="1400" u="none" cap="none" strike="noStrike">
              <a:solidFill>
                <a:schemeClr val="dk1"/>
              </a:solidFill>
              <a:latin typeface="Calibri"/>
              <a:ea typeface="Calibri"/>
              <a:cs typeface="Calibri"/>
              <a:sym typeface="Calibri"/>
            </a:endParaRPr>
          </a:p>
        </p:txBody>
      </p:sp>
      <p:sp>
        <p:nvSpPr>
          <p:cNvPr id="93" name="Google Shape;93;p6"/>
          <p:cNvSpPr/>
          <p:nvPr/>
        </p:nvSpPr>
        <p:spPr>
          <a:xfrm>
            <a:off x="1234440" y="3931920"/>
            <a:ext cx="7315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1,000,000 document records across 4 YCSB workloads (A/B/C/F). Evaluates filesystem-layer overhead under mixed read/write ratios.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8" name="Shape 98"/>
        <p:cNvGrpSpPr/>
        <p:nvPr/>
      </p:nvGrpSpPr>
      <p:grpSpPr>
        <a:xfrm>
          <a:off x="0" y="0"/>
          <a:ext cx="0" cy="0"/>
          <a:chOff x="0" y="0"/>
          <a:chExt cx="0" cy="0"/>
        </a:xfrm>
      </p:grpSpPr>
      <p:sp>
        <p:nvSpPr>
          <p:cNvPr id="99" name="Google Shape;99;p7"/>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Results: RocksDB Throughput</a:t>
            </a:r>
            <a:endParaRPr b="0" i="0" sz="3000" u="none" cap="none" strike="noStrike">
              <a:solidFill>
                <a:schemeClr val="dk1"/>
              </a:solidFill>
              <a:latin typeface="Calibri"/>
              <a:ea typeface="Calibri"/>
              <a:cs typeface="Calibri"/>
              <a:sym typeface="Calibri"/>
            </a:endParaRPr>
          </a:p>
        </p:txBody>
      </p:sp>
      <p:graphicFrame>
        <p:nvGraphicFramePr>
          <p:cNvPr id="100" name="Google Shape;100;p7"/>
          <p:cNvGraphicFramePr/>
          <p:nvPr/>
        </p:nvGraphicFramePr>
        <p:xfrm>
          <a:off x="274320" y="777240"/>
          <a:ext cx="5943600" cy="3749040"/>
        </p:xfrm>
        <a:graphic>
          <a:graphicData uri="http://schemas.openxmlformats.org/drawingml/2006/chart">
            <c:chart r:id="rId3"/>
          </a:graphicData>
        </a:graphic>
      </p:graphicFrame>
      <p:sp>
        <p:nvSpPr>
          <p:cNvPr id="101" name="Google Shape;101;p7"/>
          <p:cNvSpPr/>
          <p:nvPr/>
        </p:nvSpPr>
        <p:spPr>
          <a:xfrm>
            <a:off x="6400800" y="914400"/>
            <a:ext cx="2560320" cy="1005840"/>
          </a:xfrm>
          <a:prstGeom prst="rect">
            <a:avLst/>
          </a:prstGeom>
          <a:solidFill>
            <a:srgbClr val="EBF5FB"/>
          </a:solidFill>
          <a:ln cap="flat" cmpd="sng" w="19050">
            <a:solidFill>
              <a:srgbClr val="1565C0"/>
            </a:solidFill>
            <a:prstDash val="solid"/>
            <a:round/>
            <a:headEnd len="sm" w="sm" type="none"/>
            <a:tailEnd len="sm" w="sm" type="none"/>
          </a:ln>
          <a:effectLst>
            <a:outerShdw blurRad="38100" rotWithShape="0" algn="bl" dir="8100000" dist="127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6492240" y="987552"/>
            <a:ext cx="23774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i="0" lang="en-US" sz="1200" u="none" cap="none" strike="noStrike">
                <a:solidFill>
                  <a:srgbClr val="1565C0"/>
                </a:solidFill>
                <a:latin typeface="Calibri"/>
                <a:ea typeface="Calibri"/>
                <a:cs typeface="Calibri"/>
                <a:sym typeface="Calibri"/>
              </a:rPr>
              <a:t>Native</a:t>
            </a:r>
            <a:br>
              <a:rPr b="1" i="0" lang="en-US" sz="1200" u="none" cap="none" strike="noStrike">
                <a:solidFill>
                  <a:srgbClr val="1565C0"/>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610k ops/sec peak on fillseq — the baseline ceiling.</a:t>
            </a:r>
            <a:endParaRPr b="0" i="0" sz="1200" u="none" cap="none" strike="noStrike">
              <a:solidFill>
                <a:schemeClr val="dk1"/>
              </a:solidFill>
              <a:latin typeface="Calibri"/>
              <a:ea typeface="Calibri"/>
              <a:cs typeface="Calibri"/>
              <a:sym typeface="Calibri"/>
            </a:endParaRPr>
          </a:p>
        </p:txBody>
      </p:sp>
      <p:sp>
        <p:nvSpPr>
          <p:cNvPr id="103" name="Google Shape;103;p7"/>
          <p:cNvSpPr/>
          <p:nvPr/>
        </p:nvSpPr>
        <p:spPr>
          <a:xfrm>
            <a:off x="6400800" y="2103120"/>
            <a:ext cx="2560320" cy="1005840"/>
          </a:xfrm>
          <a:prstGeom prst="rect">
            <a:avLst/>
          </a:prstGeom>
          <a:solidFill>
            <a:srgbClr val="FDEDEC"/>
          </a:solidFill>
          <a:ln cap="flat" cmpd="sng" w="19050">
            <a:solidFill>
              <a:srgbClr val="B71C1C"/>
            </a:solidFill>
            <a:prstDash val="solid"/>
            <a:round/>
            <a:headEnd len="sm" w="sm" type="none"/>
            <a:tailEnd len="sm" w="sm" type="none"/>
          </a:ln>
          <a:effectLst>
            <a:outerShdw blurRad="38100" rotWithShape="0" algn="bl" dir="8100000" dist="127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6492240" y="2176272"/>
            <a:ext cx="23774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71C1C"/>
              </a:buClr>
              <a:buSzPts val="1200"/>
              <a:buFont typeface="Calibri"/>
              <a:buNone/>
            </a:pPr>
            <a:r>
              <a:rPr b="1" i="0" lang="en-US" sz="1200" u="none" cap="none" strike="noStrike">
                <a:solidFill>
                  <a:srgbClr val="B71C1C"/>
                </a:solidFill>
                <a:latin typeface="Calibri"/>
                <a:ea typeface="Calibri"/>
                <a:cs typeface="Calibri"/>
                <a:sym typeface="Calibri"/>
              </a:rPr>
              <a:t>ZNS</a:t>
            </a:r>
            <a:br>
              <a:rPr b="1" i="0" lang="en-US" sz="1200" u="none" cap="none" strike="noStrike">
                <a:solidFill>
                  <a:srgbClr val="B71C1C"/>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+62% vs Emulated Conv — zero internal GC amplification.</a:t>
            </a:r>
            <a:endParaRPr b="0" i="0" sz="1200" u="none" cap="none" strike="noStrike">
              <a:solidFill>
                <a:schemeClr val="dk1"/>
              </a:solidFill>
              <a:latin typeface="Calibri"/>
              <a:ea typeface="Calibri"/>
              <a:cs typeface="Calibri"/>
              <a:sym typeface="Calibri"/>
            </a:endParaRPr>
          </a:p>
        </p:txBody>
      </p:sp>
      <p:sp>
        <p:nvSpPr>
          <p:cNvPr id="105" name="Google Shape;105;p7"/>
          <p:cNvSpPr/>
          <p:nvPr/>
        </p:nvSpPr>
        <p:spPr>
          <a:xfrm>
            <a:off x="6400800" y="3291840"/>
            <a:ext cx="2560320" cy="1005840"/>
          </a:xfrm>
          <a:prstGeom prst="rect">
            <a:avLst/>
          </a:prstGeom>
          <a:solidFill>
            <a:srgbClr val="EAFAF1"/>
          </a:solidFill>
          <a:ln cap="flat" cmpd="sng" w="19050">
            <a:solidFill>
              <a:srgbClr val="2E7D32"/>
            </a:solidFill>
            <a:prstDash val="solid"/>
            <a:round/>
            <a:headEnd len="sm" w="sm" type="none"/>
            <a:tailEnd len="sm" w="sm" type="none"/>
          </a:ln>
          <a:effectLst>
            <a:outerShdw blurRad="38100" rotWithShape="0" algn="bl" dir="8100000" dist="127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6492240" y="3364992"/>
            <a:ext cx="23774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200"/>
              <a:buFont typeface="Calibri"/>
              <a:buNone/>
            </a:pPr>
            <a:r>
              <a:rPr b="1" i="0" lang="en-US" sz="1200" u="none" cap="none" strike="noStrike">
                <a:solidFill>
                  <a:srgbClr val="2E7D32"/>
                </a:solidFill>
                <a:latin typeface="Calibri"/>
                <a:ea typeface="Calibri"/>
                <a:cs typeface="Calibri"/>
                <a:sym typeface="Calibri"/>
              </a:rPr>
              <a:t>FDP</a:t>
            </a:r>
            <a:br>
              <a:rPr b="1" i="0" lang="en-US" sz="1200" u="none" cap="none" strike="noStrike">
                <a:solidFill>
                  <a:srgbClr val="2E7D32"/>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Bridges the gap without append-only constraints.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1" name="Shape 111"/>
        <p:cNvGrpSpPr/>
        <p:nvPr/>
      </p:nvGrpSpPr>
      <p:grpSpPr>
        <a:xfrm>
          <a:off x="0" y="0"/>
          <a:ext cx="0" cy="0"/>
          <a:chOff x="0" y="0"/>
          <a:chExt cx="0" cy="0"/>
        </a:xfrm>
      </p:grpSpPr>
      <p:sp>
        <p:nvSpPr>
          <p:cNvPr id="112" name="Google Shape;112;p8"/>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Results: MongoDB YCSB</a:t>
            </a:r>
            <a:endParaRPr b="0" i="0" sz="3000" u="none" cap="none" strike="noStrike">
              <a:solidFill>
                <a:schemeClr val="dk1"/>
              </a:solidFill>
              <a:latin typeface="Calibri"/>
              <a:ea typeface="Calibri"/>
              <a:cs typeface="Calibri"/>
              <a:sym typeface="Calibri"/>
            </a:endParaRPr>
          </a:p>
        </p:txBody>
      </p:sp>
      <p:graphicFrame>
        <p:nvGraphicFramePr>
          <p:cNvPr id="113" name="Google Shape;113;p8"/>
          <p:cNvGraphicFramePr/>
          <p:nvPr/>
        </p:nvGraphicFramePr>
        <p:xfrm>
          <a:off x="274320" y="777240"/>
          <a:ext cx="5943600" cy="3749040"/>
        </p:xfrm>
        <a:graphic>
          <a:graphicData uri="http://schemas.openxmlformats.org/drawingml/2006/chart">
            <c:chart r:id="rId3"/>
          </a:graphicData>
        </a:graphic>
      </p:graphicFrame>
      <p:sp>
        <p:nvSpPr>
          <p:cNvPr id="114" name="Google Shape;114;p8"/>
          <p:cNvSpPr/>
          <p:nvPr/>
        </p:nvSpPr>
        <p:spPr>
          <a:xfrm>
            <a:off x="6400800" y="896112"/>
            <a:ext cx="2560320" cy="2286000"/>
          </a:xfrm>
          <a:prstGeom prst="rect">
            <a:avLst/>
          </a:prstGeom>
          <a:solidFill>
            <a:srgbClr val="FFF8E1"/>
          </a:solidFill>
          <a:ln cap="flat" cmpd="sng" w="19050">
            <a:solidFill>
              <a:srgbClr val="F39C12"/>
            </a:solidFill>
            <a:prstDash val="solid"/>
            <a:round/>
            <a:headEnd len="sm" w="sm" type="none"/>
            <a:tailEnd len="sm" w="sm" type="none"/>
          </a:ln>
          <a:effectLst>
            <a:outerShdw blurRad="38100" rotWithShape="0" algn="bl" dir="8100000" dist="127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6492240" y="969264"/>
            <a:ext cx="2377440" cy="2148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7E22"/>
              </a:buClr>
              <a:buSzPts val="1200"/>
              <a:buFont typeface="Calibri"/>
              <a:buNone/>
            </a:pPr>
            <a:r>
              <a:rPr b="1" i="0" lang="en-US" sz="1200" u="none" cap="none" strike="noStrike">
                <a:solidFill>
                  <a:srgbClr val="E67E22"/>
                </a:solidFill>
                <a:latin typeface="Calibri"/>
                <a:ea typeface="Calibri"/>
                <a:cs typeface="Calibri"/>
                <a:sym typeface="Calibri"/>
              </a:rPr>
              <a:t>Filesystem Overhead</a:t>
            </a:r>
            <a:br>
              <a:rPr b="1" i="0" lang="en-US" sz="1200" u="none" cap="none" strike="noStrike">
                <a:solidFill>
                  <a:srgbClr val="E67E22"/>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ZNS requires f2fs (host-side translation). Under QEMU software emulation this incurs a CPU penalty.</a:t>
            </a:r>
            <a:br>
              <a:rPr b="0" i="0" lang="en-US" sz="1000" u="none" cap="none" strike="noStrike">
                <a:solidFill>
                  <a:srgbClr val="263238"/>
                </a:solidFill>
                <a:latin typeface="Calibri"/>
                <a:ea typeface="Calibri"/>
                <a:cs typeface="Calibri"/>
                <a:sym typeface="Calibri"/>
              </a:rPr>
            </a:br>
            <a:br>
              <a:rPr b="0" i="0" lang="en-US" sz="1000" u="none" cap="none" strike="noStrike">
                <a:solidFill>
                  <a:srgbClr val="263238"/>
                </a:solidFill>
                <a:latin typeface="Calibri"/>
                <a:ea typeface="Calibri"/>
                <a:cs typeface="Calibri"/>
                <a:sym typeface="Calibri"/>
              </a:rPr>
            </a:br>
            <a:r>
              <a:rPr b="1" i="0" lang="en-US" sz="1200" u="none" cap="none" strike="noStrike">
                <a:solidFill>
                  <a:srgbClr val="2E7D32"/>
                </a:solidFill>
                <a:latin typeface="Calibri"/>
                <a:ea typeface="Calibri"/>
                <a:cs typeface="Calibri"/>
                <a:sym typeface="Calibri"/>
              </a:rPr>
              <a:t>FDP advantage</a:t>
            </a:r>
            <a:br>
              <a:rPr b="1" i="0" lang="en-US" sz="1200" u="none" cap="none" strike="noStrike">
                <a:solidFill>
                  <a:srgbClr val="2E7D32"/>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POSIX ops pass through natively with transparent PID injection — no filesystem overhead.</a:t>
            </a:r>
            <a:endParaRPr b="0" i="0" sz="1200" u="none" cap="none" strike="noStrike">
              <a:solidFill>
                <a:schemeClr val="dk1"/>
              </a:solidFill>
              <a:latin typeface="Calibri"/>
              <a:ea typeface="Calibri"/>
              <a:cs typeface="Calibri"/>
              <a:sym typeface="Calibri"/>
            </a:endParaRPr>
          </a:p>
        </p:txBody>
      </p:sp>
      <p:sp>
        <p:nvSpPr>
          <p:cNvPr id="116" name="Google Shape;116;p8"/>
          <p:cNvSpPr/>
          <p:nvPr/>
        </p:nvSpPr>
        <p:spPr>
          <a:xfrm>
            <a:off x="6400800" y="3337560"/>
            <a:ext cx="2560320" cy="1188720"/>
          </a:xfrm>
          <a:prstGeom prst="rect">
            <a:avLst/>
          </a:prstGeom>
          <a:solidFill>
            <a:srgbClr val="F5EEF8"/>
          </a:solidFill>
          <a:ln cap="flat" cmpd="sng" w="19050">
            <a:solidFill>
              <a:srgbClr val="8E44AD"/>
            </a:solidFill>
            <a:prstDash val="solid"/>
            <a:round/>
            <a:headEnd len="sm" w="sm" type="none"/>
            <a:tailEnd len="sm" w="sm" type="none"/>
          </a:ln>
          <a:effectLst>
            <a:outerShdw blurRad="38100" rotWithShape="0" algn="bl" dir="8100000" dist="127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6492240" y="3410712"/>
            <a:ext cx="237744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E44AD"/>
              </a:buClr>
              <a:buSzPts val="1200"/>
              <a:buFont typeface="Calibri"/>
              <a:buNone/>
            </a:pPr>
            <a:r>
              <a:rPr b="1" i="0" lang="en-US" sz="1200" u="none" cap="none" strike="noStrike">
                <a:solidFill>
                  <a:srgbClr val="8E44AD"/>
                </a:solidFill>
                <a:latin typeface="Calibri"/>
                <a:ea typeface="Calibri"/>
                <a:cs typeface="Calibri"/>
                <a:sym typeface="Calibri"/>
              </a:rPr>
              <a:t>Key Insight</a:t>
            </a:r>
            <a:br>
              <a:rPr b="1" i="0" lang="en-US" sz="1200" u="none" cap="none" strike="noStrike">
                <a:solidFill>
                  <a:srgbClr val="8E44AD"/>
                </a:solidFill>
                <a:latin typeface="Calibri"/>
                <a:ea typeface="Calibri"/>
                <a:cs typeface="Calibri"/>
                <a:sym typeface="Calibri"/>
              </a:rPr>
            </a:br>
            <a:r>
              <a:rPr b="0" i="0" lang="en-US" sz="1000" u="none" cap="none" strike="noStrike">
                <a:solidFill>
                  <a:srgbClr val="263238"/>
                </a:solidFill>
                <a:latin typeface="Calibri"/>
                <a:ea typeface="Calibri"/>
                <a:cs typeface="Calibri"/>
                <a:sym typeface="Calibri"/>
              </a:rPr>
              <a:t>FDP pulls ahead of ZNS in filesystem-heavy workloads while maintaining simpler integration.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2" name="Shape 122"/>
        <p:cNvGrpSpPr/>
        <p:nvPr/>
      </p:nvGrpSpPr>
      <p:grpSpPr>
        <a:xfrm>
          <a:off x="0" y="0"/>
          <a:ext cx="0" cy="0"/>
          <a:chOff x="0" y="0"/>
          <a:chExt cx="0" cy="0"/>
        </a:xfrm>
      </p:grpSpPr>
      <p:sp>
        <p:nvSpPr>
          <p:cNvPr id="123" name="Google Shape;123;p9"/>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Learnings &amp; Limitations</a:t>
            </a:r>
            <a:endParaRPr b="0" i="0" sz="3000" u="none" cap="none" strike="noStrike">
              <a:solidFill>
                <a:schemeClr val="dk1"/>
              </a:solidFill>
              <a:latin typeface="Calibri"/>
              <a:ea typeface="Calibri"/>
              <a:cs typeface="Calibri"/>
              <a:sym typeface="Calibri"/>
            </a:endParaRPr>
          </a:p>
        </p:txBody>
      </p:sp>
      <p:sp>
        <p:nvSpPr>
          <p:cNvPr id="124" name="Google Shape;124;p9"/>
          <p:cNvSpPr/>
          <p:nvPr/>
        </p:nvSpPr>
        <p:spPr>
          <a:xfrm>
            <a:off x="365760" y="868680"/>
            <a:ext cx="8412480" cy="1170432"/>
          </a:xfrm>
          <a:prstGeom prst="rect">
            <a:avLst/>
          </a:prstGeom>
          <a:solidFill>
            <a:srgbClr val="FEF9E7"/>
          </a:solidFill>
          <a:ln cap="flat" cmpd="sng" w="19050">
            <a:solidFill>
              <a:srgbClr val="F39C12"/>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502920" y="114300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26" name="Google Shape;126;p9"/>
          <p:cNvSpPr/>
          <p:nvPr/>
        </p:nvSpPr>
        <p:spPr>
          <a:xfrm>
            <a:off x="1280160" y="960120"/>
            <a:ext cx="7315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7E22"/>
              </a:buClr>
              <a:buSzPts val="1400"/>
              <a:buFont typeface="Calibri"/>
              <a:buNone/>
            </a:pPr>
            <a:r>
              <a:rPr b="1" i="0" lang="en-US" sz="1400" u="none" cap="none" strike="noStrike">
                <a:solidFill>
                  <a:srgbClr val="E67E22"/>
                </a:solidFill>
                <a:latin typeface="Calibri"/>
                <a:ea typeface="Calibri"/>
                <a:cs typeface="Calibri"/>
                <a:sym typeface="Calibri"/>
              </a:rPr>
              <a:t>The Virtualization Tax is Real</a:t>
            </a:r>
            <a:endParaRPr b="0" i="0" sz="1400" u="none" cap="none" strike="noStrike">
              <a:solidFill>
                <a:schemeClr val="dk1"/>
              </a:solidFill>
              <a:latin typeface="Calibri"/>
              <a:ea typeface="Calibri"/>
              <a:cs typeface="Calibri"/>
              <a:sym typeface="Calibri"/>
            </a:endParaRPr>
          </a:p>
        </p:txBody>
      </p:sp>
      <p:sp>
        <p:nvSpPr>
          <p:cNvPr id="127" name="Google Shape;127;p9"/>
          <p:cNvSpPr/>
          <p:nvPr/>
        </p:nvSpPr>
        <p:spPr>
          <a:xfrm>
            <a:off x="1280160" y="1353312"/>
            <a:ext cx="73152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QEMU introduces non-trivial I/O wait times that distort raw µs latency metrics vs bare silicon. Throughput ceilings reflect CPU emulation, not flash cell limits.</a:t>
            </a:r>
            <a:endParaRPr b="0" i="0" sz="1100" u="none" cap="none" strike="noStrike">
              <a:solidFill>
                <a:schemeClr val="dk1"/>
              </a:solidFill>
              <a:latin typeface="Calibri"/>
              <a:ea typeface="Calibri"/>
              <a:cs typeface="Calibri"/>
              <a:sym typeface="Calibri"/>
            </a:endParaRPr>
          </a:p>
        </p:txBody>
      </p:sp>
      <p:sp>
        <p:nvSpPr>
          <p:cNvPr id="128" name="Google Shape;128;p9"/>
          <p:cNvSpPr/>
          <p:nvPr/>
        </p:nvSpPr>
        <p:spPr>
          <a:xfrm>
            <a:off x="365760" y="2194560"/>
            <a:ext cx="8412480" cy="1170432"/>
          </a:xfrm>
          <a:prstGeom prst="rect">
            <a:avLst/>
          </a:prstGeom>
          <a:solidFill>
            <a:srgbClr val="EBF5FB"/>
          </a:solidFill>
          <a:ln cap="flat" cmpd="sng" w="19050">
            <a:solidFill>
              <a:srgbClr val="85C1E9"/>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502920" y="246888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30" name="Google Shape;130;p9"/>
          <p:cNvSpPr/>
          <p:nvPr/>
        </p:nvSpPr>
        <p:spPr>
          <a:xfrm>
            <a:off x="1280160" y="2286000"/>
            <a:ext cx="7315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71A3"/>
              </a:buClr>
              <a:buSzPts val="1400"/>
              <a:buFont typeface="Calibri"/>
              <a:buNone/>
            </a:pPr>
            <a:r>
              <a:rPr b="1" i="0" lang="en-US" sz="1400" u="none" cap="none" strike="noStrike">
                <a:solidFill>
                  <a:srgbClr val="2471A3"/>
                </a:solidFill>
                <a:latin typeface="Calibri"/>
                <a:ea typeface="Calibri"/>
                <a:cs typeface="Calibri"/>
                <a:sym typeface="Calibri"/>
              </a:rPr>
              <a:t>Hypervisor Maturity Gap</a:t>
            </a:r>
            <a:endParaRPr b="0" i="0" sz="1400" u="none" cap="none" strike="noStrike">
              <a:solidFill>
                <a:schemeClr val="dk1"/>
              </a:solidFill>
              <a:latin typeface="Calibri"/>
              <a:ea typeface="Calibri"/>
              <a:cs typeface="Calibri"/>
              <a:sym typeface="Calibri"/>
            </a:endParaRPr>
          </a:p>
        </p:txBody>
      </p:sp>
      <p:sp>
        <p:nvSpPr>
          <p:cNvPr id="131" name="Google Shape;131;p9"/>
          <p:cNvSpPr/>
          <p:nvPr/>
        </p:nvSpPr>
        <p:spPr>
          <a:xfrm>
            <a:off x="1280160" y="2679192"/>
            <a:ext cx="73152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QEMU 6.2 on CloudLab lacks native FDP argument support, requiring complex proxying workarounds. Newer hypervisors and firmware are needed for clean benchmarks.</a:t>
            </a:r>
            <a:endParaRPr b="0" i="0" sz="1100" u="none" cap="none" strike="noStrike">
              <a:solidFill>
                <a:schemeClr val="dk1"/>
              </a:solidFill>
              <a:latin typeface="Calibri"/>
              <a:ea typeface="Calibri"/>
              <a:cs typeface="Calibri"/>
              <a:sym typeface="Calibri"/>
            </a:endParaRPr>
          </a:p>
        </p:txBody>
      </p:sp>
      <p:sp>
        <p:nvSpPr>
          <p:cNvPr id="132" name="Google Shape;132;p9"/>
          <p:cNvSpPr/>
          <p:nvPr/>
        </p:nvSpPr>
        <p:spPr>
          <a:xfrm>
            <a:off x="365760" y="3520440"/>
            <a:ext cx="8412480" cy="1170432"/>
          </a:xfrm>
          <a:prstGeom prst="rect">
            <a:avLst/>
          </a:prstGeom>
          <a:solidFill>
            <a:srgbClr val="EAFAF1"/>
          </a:solidFill>
          <a:ln cap="flat" cmpd="sng" w="19050">
            <a:solidFill>
              <a:srgbClr val="82E0AA"/>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502920" y="379476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34" name="Google Shape;134;p9"/>
          <p:cNvSpPr/>
          <p:nvPr/>
        </p:nvSpPr>
        <p:spPr>
          <a:xfrm>
            <a:off x="1280160" y="3611880"/>
            <a:ext cx="7315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7AE60"/>
              </a:buClr>
              <a:buSzPts val="1400"/>
              <a:buFont typeface="Calibri"/>
              <a:buNone/>
            </a:pPr>
            <a:r>
              <a:rPr b="1" i="0" lang="en-US" sz="1400" u="none" cap="none" strike="noStrike">
                <a:solidFill>
                  <a:srgbClr val="27AE60"/>
                </a:solidFill>
                <a:latin typeface="Calibri"/>
                <a:ea typeface="Calibri"/>
                <a:cs typeface="Calibri"/>
                <a:sym typeface="Calibri"/>
              </a:rPr>
              <a:t>The Clear Trade-Off</a:t>
            </a:r>
            <a:endParaRPr b="0" i="0" sz="1400" u="none" cap="none" strike="noStrike">
              <a:solidFill>
                <a:schemeClr val="dk1"/>
              </a:solidFill>
              <a:latin typeface="Calibri"/>
              <a:ea typeface="Calibri"/>
              <a:cs typeface="Calibri"/>
              <a:sym typeface="Calibri"/>
            </a:endParaRPr>
          </a:p>
        </p:txBody>
      </p:sp>
      <p:sp>
        <p:nvSpPr>
          <p:cNvPr id="135" name="Google Shape;135;p9"/>
          <p:cNvSpPr/>
          <p:nvPr/>
        </p:nvSpPr>
        <p:spPr>
          <a:xfrm>
            <a:off x="1280160" y="4005072"/>
            <a:ext cx="73152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ZNS offers absolute WAF control (1.0×) but demands complete software rearchitecture. FDP delivers ~90% of the benefit with practically zero integration friction.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40" name="Shape 140"/>
        <p:cNvGrpSpPr/>
        <p:nvPr/>
      </p:nvGrpSpPr>
      <p:grpSpPr>
        <a:xfrm>
          <a:off x="0" y="0"/>
          <a:ext cx="0" cy="0"/>
          <a:chOff x="0" y="0"/>
          <a:chExt cx="0" cy="0"/>
        </a:xfrm>
      </p:grpSpPr>
      <p:sp>
        <p:nvSpPr>
          <p:cNvPr id="141" name="Google Shape;141;p10"/>
          <p:cNvSpPr/>
          <p:nvPr/>
        </p:nvSpPr>
        <p:spPr>
          <a:xfrm>
            <a:off x="457200" y="201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951"/>
              </a:buClr>
              <a:buSzPts val="3000"/>
              <a:buFont typeface="Calibri"/>
              <a:buNone/>
            </a:pPr>
            <a:r>
              <a:rPr b="1" i="0" lang="en-US" sz="3000" u="none" cap="none" strike="noStrike">
                <a:solidFill>
                  <a:srgbClr val="1C2951"/>
                </a:solidFill>
                <a:latin typeface="Calibri"/>
                <a:ea typeface="Calibri"/>
                <a:cs typeface="Calibri"/>
                <a:sym typeface="Calibri"/>
              </a:rPr>
              <a:t>Future Work</a:t>
            </a:r>
            <a:endParaRPr b="0" i="0" sz="3000" u="none" cap="none" strike="noStrike">
              <a:solidFill>
                <a:schemeClr val="dk1"/>
              </a:solidFill>
              <a:latin typeface="Calibri"/>
              <a:ea typeface="Calibri"/>
              <a:cs typeface="Calibri"/>
              <a:sym typeface="Calibri"/>
            </a:endParaRPr>
          </a:p>
        </p:txBody>
      </p:sp>
      <p:sp>
        <p:nvSpPr>
          <p:cNvPr id="142" name="Google Shape;142;p10"/>
          <p:cNvSpPr/>
          <p:nvPr/>
        </p:nvSpPr>
        <p:spPr>
          <a:xfrm>
            <a:off x="274320" y="822960"/>
            <a:ext cx="4114800" cy="3383280"/>
          </a:xfrm>
          <a:prstGeom prst="rect">
            <a:avLst/>
          </a:prstGeom>
          <a:solidFill>
            <a:srgbClr val="EBF5FB"/>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457200" y="914400"/>
            <a:ext cx="36576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5276"/>
              </a:buClr>
              <a:buSzPts val="1500"/>
              <a:buFont typeface="Calibri"/>
              <a:buNone/>
            </a:pPr>
            <a:r>
              <a:rPr b="1" i="0" lang="en-US" sz="1500" u="none" cap="none" strike="noStrike">
                <a:solidFill>
                  <a:srgbClr val="1A5276"/>
                </a:solidFill>
                <a:latin typeface="Calibri"/>
                <a:ea typeface="Calibri"/>
                <a:cs typeface="Calibri"/>
                <a:sym typeface="Calibri"/>
              </a:rPr>
              <a:t>01  Hardware Acquisition</a:t>
            </a:r>
            <a:endParaRPr b="0" i="0" sz="1500" u="none" cap="none" strike="noStrike">
              <a:solidFill>
                <a:schemeClr val="dk1"/>
              </a:solidFill>
              <a:latin typeface="Calibri"/>
              <a:ea typeface="Calibri"/>
              <a:cs typeface="Calibri"/>
              <a:sym typeface="Calibri"/>
            </a:endParaRPr>
          </a:p>
        </p:txBody>
      </p:sp>
      <p:sp>
        <p:nvSpPr>
          <p:cNvPr id="144" name="Google Shape;144;p10"/>
          <p:cNvSpPr/>
          <p:nvPr/>
        </p:nvSpPr>
        <p:spPr>
          <a:xfrm>
            <a:off x="457200" y="1371600"/>
            <a:ext cx="3749040" cy="2651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Deploy the test harness directly onto</a:t>
            </a:r>
            <a:br>
              <a:rPr b="0" i="0" lang="en-US" sz="1100" u="none" cap="none" strike="noStrike">
                <a:solidFill>
                  <a:srgbClr val="263238"/>
                </a:solidFill>
                <a:latin typeface="Calibri"/>
                <a:ea typeface="Calibri"/>
                <a:cs typeface="Calibri"/>
                <a:sym typeface="Calibri"/>
              </a:rPr>
            </a:br>
            <a:r>
              <a:rPr b="1" i="0" lang="en-US" sz="1100" u="none" cap="none" strike="noStrike">
                <a:solidFill>
                  <a:srgbClr val="1A5276"/>
                </a:solidFill>
                <a:latin typeface="Calibri"/>
                <a:ea typeface="Calibri"/>
                <a:cs typeface="Calibri"/>
                <a:sym typeface="Calibri"/>
              </a:rPr>
              <a:t>physical PCIe Gen 5 SSDs</a:t>
            </a:r>
            <a:r>
              <a:rPr b="0" i="0" lang="en-US" sz="1100" u="none" cap="none" strike="noStrike">
                <a:solidFill>
                  <a:srgbClr val="263238"/>
                </a:solidFill>
                <a:latin typeface="Calibri"/>
                <a:ea typeface="Calibri"/>
                <a:cs typeface="Calibri"/>
                <a:sym typeface="Calibri"/>
              </a:rPr>
              <a:t> with native</a:t>
            </a: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ZNS/FDP firmware.</a:t>
            </a:r>
            <a:br>
              <a:rPr b="0" i="0" lang="en-US" sz="1100" u="none" cap="none" strike="noStrike">
                <a:solidFill>
                  <a:srgbClr val="263238"/>
                </a:solidFill>
                <a:latin typeface="Calibri"/>
                <a:ea typeface="Calibri"/>
                <a:cs typeface="Calibri"/>
                <a:sym typeface="Calibri"/>
              </a:rPr>
            </a:b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 Capture unadulterated latency distributions</a:t>
            </a: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 Eliminate the QEMU virtualization tax</a:t>
            </a: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 Validate emulation model accuracy</a:t>
            </a:r>
            <a:endParaRPr b="0" i="0" sz="1100" u="none" cap="none" strike="noStrike">
              <a:solidFill>
                <a:schemeClr val="dk1"/>
              </a:solidFill>
              <a:latin typeface="Calibri"/>
              <a:ea typeface="Calibri"/>
              <a:cs typeface="Calibri"/>
              <a:sym typeface="Calibri"/>
            </a:endParaRPr>
          </a:p>
        </p:txBody>
      </p:sp>
      <p:sp>
        <p:nvSpPr>
          <p:cNvPr id="145" name="Google Shape;145;p10"/>
          <p:cNvSpPr/>
          <p:nvPr/>
        </p:nvSpPr>
        <p:spPr>
          <a:xfrm>
            <a:off x="4754880" y="822960"/>
            <a:ext cx="4114800" cy="3383280"/>
          </a:xfrm>
          <a:prstGeom prst="rect">
            <a:avLst/>
          </a:prstGeom>
          <a:solidFill>
            <a:srgbClr val="EAFAF1"/>
          </a:solidFill>
          <a:ln cap="flat" cmpd="sng" w="19050">
            <a:solidFill>
              <a:srgbClr val="27AE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4937760" y="914400"/>
            <a:ext cx="36576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449"/>
              </a:buClr>
              <a:buSzPts val="1500"/>
              <a:buFont typeface="Calibri"/>
              <a:buNone/>
            </a:pPr>
            <a:r>
              <a:rPr b="1" i="0" lang="en-US" sz="1500" u="none" cap="none" strike="noStrike">
                <a:solidFill>
                  <a:srgbClr val="1E8449"/>
                </a:solidFill>
                <a:latin typeface="Calibri"/>
                <a:ea typeface="Calibri"/>
                <a:cs typeface="Calibri"/>
                <a:sym typeface="Calibri"/>
              </a:rPr>
              <a:t>02  eBPF Auto-Placement Module</a:t>
            </a:r>
            <a:endParaRPr b="0" i="0" sz="1500" u="none" cap="none" strike="noStrike">
              <a:solidFill>
                <a:schemeClr val="dk1"/>
              </a:solidFill>
              <a:latin typeface="Calibri"/>
              <a:ea typeface="Calibri"/>
              <a:cs typeface="Calibri"/>
              <a:sym typeface="Calibri"/>
            </a:endParaRPr>
          </a:p>
        </p:txBody>
      </p:sp>
      <p:sp>
        <p:nvSpPr>
          <p:cNvPr id="147" name="Google Shape;147;p10"/>
          <p:cNvSpPr/>
          <p:nvPr/>
        </p:nvSpPr>
        <p:spPr>
          <a:xfrm>
            <a:off x="4937760" y="1371600"/>
            <a:ext cx="3749040" cy="2651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Kernel-level eBPF module that intercepts</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I/O calls and </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E8449"/>
              </a:buClr>
              <a:buSzPts val="1100"/>
              <a:buFont typeface="Calibri"/>
              <a:buNone/>
            </a:pPr>
            <a:r>
              <a:rPr b="1" i="0" lang="en-US" sz="1100" u="none" cap="none" strike="noStrike">
                <a:solidFill>
                  <a:srgbClr val="1E8449"/>
                </a:solidFill>
                <a:latin typeface="Calibri"/>
                <a:ea typeface="Calibri"/>
                <a:cs typeface="Calibri"/>
                <a:sym typeface="Calibri"/>
              </a:rPr>
              <a:t>autonomously injects FDP</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E8449"/>
              </a:buClr>
              <a:buSzPts val="1100"/>
              <a:buFont typeface="Calibri"/>
              <a:buNone/>
            </a:pPr>
            <a:r>
              <a:rPr b="1" i="0" lang="en-US" sz="1100" u="none" cap="none" strike="noStrike">
                <a:solidFill>
                  <a:srgbClr val="1E8449"/>
                </a:solidFill>
                <a:latin typeface="Calibri"/>
                <a:ea typeface="Calibri"/>
                <a:cs typeface="Calibri"/>
                <a:sym typeface="Calibri"/>
              </a:rPr>
              <a:t>Placement Identifiers</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63238"/>
              </a:buClr>
              <a:buSzPts val="1100"/>
              <a:buFont typeface="Calibri"/>
              <a:buNone/>
            </a:pPr>
            <a:r>
              <a:rPr b="0" i="0" lang="en-US" sz="1100" u="none" cap="none" strike="noStrike">
                <a:solidFill>
                  <a:srgbClr val="263238"/>
                </a:solidFill>
                <a:latin typeface="Calibri"/>
                <a:ea typeface="Calibri"/>
                <a:cs typeface="Calibri"/>
                <a:sym typeface="Calibri"/>
              </a:rPr>
              <a:t> based on file descriptor.</a:t>
            </a:r>
            <a:br>
              <a:rPr b="0" i="0" lang="en-US" sz="1100" u="none" cap="none" strike="noStrike">
                <a:solidFill>
                  <a:srgbClr val="263238"/>
                </a:solidFill>
                <a:latin typeface="Calibri"/>
                <a:ea typeface="Calibri"/>
                <a:cs typeface="Calibri"/>
                <a:sym typeface="Calibri"/>
              </a:rPr>
            </a:b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 Trace file descriptors at the kernel level</a:t>
            </a:r>
            <a:br>
              <a:rPr b="0" i="0" lang="en-US" sz="1100" u="none" cap="none" strike="noStrike">
                <a:solidFill>
                  <a:srgbClr val="263238"/>
                </a:solidFill>
                <a:latin typeface="Calibri"/>
                <a:ea typeface="Calibri"/>
                <a:cs typeface="Calibri"/>
                <a:sym typeface="Calibri"/>
              </a:rPr>
            </a:br>
            <a:r>
              <a:rPr b="0" i="0" lang="en-US" sz="1100" u="none" cap="none" strike="noStrike">
                <a:solidFill>
                  <a:srgbClr val="263238"/>
                </a:solidFill>
                <a:latin typeface="Calibri"/>
                <a:ea typeface="Calibri"/>
                <a:cs typeface="Calibri"/>
                <a:sym typeface="Calibri"/>
              </a:rPr>
              <a:t>• Route I/O threads to correct FDP PIDs</a:t>
            </a:r>
            <a:br>
              <a:rPr b="0" i="0" lang="en-US" sz="1100" u="none" cap="none" strike="noStrike">
                <a:solidFill>
                  <a:srgbClr val="263238"/>
                </a:solidFill>
                <a:latin typeface="Calibri"/>
                <a:ea typeface="Calibri"/>
                <a:cs typeface="Calibri"/>
                <a:sym typeface="Calibri"/>
              </a:rPr>
            </a:br>
            <a:r>
              <a:rPr b="1" i="0" lang="en-US" sz="1100" u="none" cap="none" strike="noStrike">
                <a:solidFill>
                  <a:srgbClr val="263238"/>
                </a:solidFill>
                <a:latin typeface="Calibri"/>
                <a:ea typeface="Calibri"/>
                <a:cs typeface="Calibri"/>
                <a:sym typeface="Calibri"/>
              </a:rPr>
              <a:t>• Zero application-level code modifications</a:t>
            </a:r>
            <a:endParaRPr b="0" i="0" sz="1100" u="none" cap="none" strike="noStrike">
              <a:solidFill>
                <a:schemeClr val="dk1"/>
              </a:solidFill>
              <a:latin typeface="Calibri"/>
              <a:ea typeface="Calibri"/>
              <a:cs typeface="Calibri"/>
              <a:sym typeface="Calibri"/>
            </a:endParaRPr>
          </a:p>
        </p:txBody>
      </p:sp>
      <p:sp>
        <p:nvSpPr>
          <p:cNvPr id="148" name="Google Shape;148;p10"/>
          <p:cNvSpPr/>
          <p:nvPr/>
        </p:nvSpPr>
        <p:spPr>
          <a:xfrm>
            <a:off x="457200" y="4407408"/>
            <a:ext cx="82296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4A4A"/>
              </a:buClr>
              <a:buSzPts val="1200"/>
              <a:buFont typeface="Calibri"/>
              <a:buNone/>
            </a:pPr>
            <a:r>
              <a:rPr b="0" i="1" lang="en-US" sz="1200" u="none" cap="none" strike="noStrike">
                <a:solidFill>
                  <a:srgbClr val="4A4A4A"/>
                </a:solidFill>
                <a:latin typeface="Calibri"/>
                <a:ea typeface="Calibri"/>
                <a:cs typeface="Calibri"/>
                <a:sym typeface="Calibri"/>
              </a:rPr>
              <a:t>Goal: Legacy applications utilize next-gen SSDs with zero source code modifications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951"/>
        </a:solidFill>
      </p:bgPr>
    </p:bg>
    <p:spTree>
      <p:nvGrpSpPr>
        <p:cNvPr id="153" name="Shape 153"/>
        <p:cNvGrpSpPr/>
        <p:nvPr/>
      </p:nvGrpSpPr>
      <p:grpSpPr>
        <a:xfrm>
          <a:off x="0" y="0"/>
          <a:ext cx="0" cy="0"/>
          <a:chOff x="0" y="0"/>
          <a:chExt cx="0" cy="0"/>
        </a:xfrm>
      </p:grpSpPr>
      <p:sp>
        <p:nvSpPr>
          <p:cNvPr id="154" name="Google Shape;154;p11"/>
          <p:cNvSpPr/>
          <p:nvPr/>
        </p:nvSpPr>
        <p:spPr>
          <a:xfrm>
            <a:off x="-1371600" y="-1371600"/>
            <a:ext cx="5486400" cy="5486400"/>
          </a:xfrm>
          <a:prstGeom prst="ellipse">
            <a:avLst/>
          </a:prstGeom>
          <a:solidFill>
            <a:srgbClr val="243B6E">
              <a:alpha val="60000"/>
            </a:srgbClr>
          </a:solidFill>
          <a:ln cap="flat" cmpd="sng" w="12700">
            <a:solidFill>
              <a:srgbClr val="243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a:off x="5943600" y="2286000"/>
            <a:ext cx="4572000" cy="4572000"/>
          </a:xfrm>
          <a:prstGeom prst="ellipse">
            <a:avLst/>
          </a:prstGeom>
          <a:solidFill>
            <a:srgbClr val="243B6E">
              <a:alpha val="60000"/>
            </a:srgbClr>
          </a:solidFill>
          <a:ln cap="flat" cmpd="sng" w="12700">
            <a:solidFill>
              <a:srgbClr val="243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a:off x="548640" y="457200"/>
            <a:ext cx="80467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Key Takeaways</a:t>
            </a:r>
            <a:endParaRPr b="0" i="0" sz="3400" u="none" cap="none" strike="noStrike">
              <a:solidFill>
                <a:schemeClr val="dk1"/>
              </a:solidFill>
              <a:latin typeface="Calibri"/>
              <a:ea typeface="Calibri"/>
              <a:cs typeface="Calibri"/>
              <a:sym typeface="Calibri"/>
            </a:endParaRPr>
          </a:p>
        </p:txBody>
      </p:sp>
      <p:sp>
        <p:nvSpPr>
          <p:cNvPr id="157" name="Google Shape;157;p11"/>
          <p:cNvSpPr/>
          <p:nvPr/>
        </p:nvSpPr>
        <p:spPr>
          <a:xfrm>
            <a:off x="365760" y="1097280"/>
            <a:ext cx="8412480" cy="768096"/>
          </a:xfrm>
          <a:prstGeom prst="rect">
            <a:avLst/>
          </a:prstGeom>
          <a:solidFill>
            <a:srgbClr val="243B6E"/>
          </a:solidFill>
          <a:ln cap="flat" cmpd="sng" w="12700">
            <a:solidFill>
              <a:srgbClr val="4FC3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548640" y="1143000"/>
            <a:ext cx="804672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C3F7"/>
              </a:buClr>
              <a:buSzPts val="1300"/>
              <a:buFont typeface="Calibri"/>
              <a:buNone/>
            </a:pPr>
            <a:r>
              <a:rPr b="1" i="0" lang="en-US" sz="1300" u="none" cap="none" strike="noStrike">
                <a:solidFill>
                  <a:srgbClr val="4FC3F7"/>
                </a:solidFill>
                <a:latin typeface="Calibri"/>
                <a:ea typeface="Calibri"/>
                <a:cs typeface="Calibri"/>
                <a:sym typeface="Calibri"/>
              </a:rPr>
              <a:t>The semantic gap is real  —  </a:t>
            </a:r>
            <a:r>
              <a:rPr b="0" i="0" lang="en-US" sz="1200" u="none" cap="none" strike="noStrike">
                <a:solidFill>
                  <a:srgbClr val="B0C4DE"/>
                </a:solidFill>
                <a:latin typeface="Calibri"/>
                <a:ea typeface="Calibri"/>
                <a:cs typeface="Calibri"/>
                <a:sym typeface="Calibri"/>
              </a:rPr>
              <a:t>FTL GC + app GC creates WAF 3–10×, degrading perf &amp; lifespan.</a:t>
            </a:r>
            <a:endParaRPr b="0" i="0" sz="1300" u="none" cap="none" strike="noStrike">
              <a:solidFill>
                <a:schemeClr val="dk1"/>
              </a:solidFill>
              <a:latin typeface="Calibri"/>
              <a:ea typeface="Calibri"/>
              <a:cs typeface="Calibri"/>
              <a:sym typeface="Calibri"/>
            </a:endParaRPr>
          </a:p>
        </p:txBody>
      </p:sp>
      <p:sp>
        <p:nvSpPr>
          <p:cNvPr id="159" name="Google Shape;159;p11"/>
          <p:cNvSpPr/>
          <p:nvPr/>
        </p:nvSpPr>
        <p:spPr>
          <a:xfrm>
            <a:off x="365760" y="1993392"/>
            <a:ext cx="8412480" cy="768096"/>
          </a:xfrm>
          <a:prstGeom prst="rect">
            <a:avLst/>
          </a:prstGeom>
          <a:solidFill>
            <a:srgbClr val="243B6E"/>
          </a:solidFill>
          <a:ln cap="flat" cmpd="sng" w="12700">
            <a:solidFill>
              <a:srgbClr val="80C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a:off x="548640" y="2039112"/>
            <a:ext cx="804672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CBC4"/>
              </a:buClr>
              <a:buSzPts val="1300"/>
              <a:buFont typeface="Calibri"/>
              <a:buNone/>
            </a:pPr>
            <a:r>
              <a:rPr b="1" i="0" lang="en-US" sz="1300" u="none" cap="none" strike="noStrike">
                <a:solidFill>
                  <a:srgbClr val="80CBC4"/>
                </a:solidFill>
                <a:latin typeface="Calibri"/>
                <a:ea typeface="Calibri"/>
                <a:cs typeface="Calibri"/>
                <a:sym typeface="Calibri"/>
              </a:rPr>
              <a:t>ZNS = maximum control  —  </a:t>
            </a:r>
            <a:r>
              <a:rPr b="0" i="0" lang="en-US" sz="1200" u="none" cap="none" strike="noStrike">
                <a:solidFill>
                  <a:srgbClr val="B0C4DE"/>
                </a:solidFill>
                <a:latin typeface="Calibri"/>
                <a:ea typeface="Calibri"/>
                <a:cs typeface="Calibri"/>
                <a:sym typeface="Calibri"/>
              </a:rPr>
              <a:t>WAF → 1.0× but requires complete software rearchitecture.</a:t>
            </a:r>
            <a:endParaRPr b="0" i="0" sz="1300" u="none" cap="none" strike="noStrike">
              <a:solidFill>
                <a:schemeClr val="dk1"/>
              </a:solidFill>
              <a:latin typeface="Calibri"/>
              <a:ea typeface="Calibri"/>
              <a:cs typeface="Calibri"/>
              <a:sym typeface="Calibri"/>
            </a:endParaRPr>
          </a:p>
        </p:txBody>
      </p:sp>
      <p:sp>
        <p:nvSpPr>
          <p:cNvPr id="161" name="Google Shape;161;p11"/>
          <p:cNvSpPr/>
          <p:nvPr/>
        </p:nvSpPr>
        <p:spPr>
          <a:xfrm>
            <a:off x="365760" y="2889504"/>
            <a:ext cx="8412480" cy="768096"/>
          </a:xfrm>
          <a:prstGeom prst="rect">
            <a:avLst/>
          </a:prstGeom>
          <a:solidFill>
            <a:srgbClr val="243B6E"/>
          </a:solidFill>
          <a:ln cap="flat" cmpd="sng" w="1270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548640" y="2935224"/>
            <a:ext cx="804672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D6A7"/>
              </a:buClr>
              <a:buSzPts val="1300"/>
              <a:buFont typeface="Calibri"/>
              <a:buNone/>
            </a:pPr>
            <a:r>
              <a:rPr b="1" i="0" lang="en-US" sz="1300" u="none" cap="none" strike="noStrike">
                <a:solidFill>
                  <a:srgbClr val="A5D6A7"/>
                </a:solidFill>
                <a:latin typeface="Calibri"/>
                <a:ea typeface="Calibri"/>
                <a:cs typeface="Calibri"/>
                <a:sym typeface="Calibri"/>
              </a:rPr>
              <a:t>FDP = maximum pragmatism  —  </a:t>
            </a:r>
            <a:r>
              <a:rPr b="0" i="0" lang="en-US" sz="1200" u="none" cap="none" strike="noStrike">
                <a:solidFill>
                  <a:srgbClr val="B0C4DE"/>
                </a:solidFill>
                <a:latin typeface="Calibri"/>
                <a:ea typeface="Calibri"/>
                <a:cs typeface="Calibri"/>
                <a:sym typeface="Calibri"/>
              </a:rPr>
              <a:t>~90% WAF reduction with full backward compatibility.</a:t>
            </a:r>
            <a:endParaRPr b="0" i="0" sz="1300" u="none" cap="none" strike="noStrike">
              <a:solidFill>
                <a:schemeClr val="dk1"/>
              </a:solidFill>
              <a:latin typeface="Calibri"/>
              <a:ea typeface="Calibri"/>
              <a:cs typeface="Calibri"/>
              <a:sym typeface="Calibri"/>
            </a:endParaRPr>
          </a:p>
        </p:txBody>
      </p:sp>
      <p:sp>
        <p:nvSpPr>
          <p:cNvPr id="163" name="Google Shape;163;p11"/>
          <p:cNvSpPr/>
          <p:nvPr/>
        </p:nvSpPr>
        <p:spPr>
          <a:xfrm>
            <a:off x="365760" y="3785616"/>
            <a:ext cx="8412480" cy="768096"/>
          </a:xfrm>
          <a:prstGeom prst="rect">
            <a:avLst/>
          </a:prstGeom>
          <a:solidFill>
            <a:srgbClr val="243B6E"/>
          </a:solidFill>
          <a:ln cap="flat" cmpd="sng" w="12700">
            <a:solidFill>
              <a:srgbClr val="CE9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548640" y="3831336"/>
            <a:ext cx="804672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E93D8"/>
              </a:buClr>
              <a:buSzPts val="1300"/>
              <a:buFont typeface="Calibri"/>
              <a:buNone/>
            </a:pPr>
            <a:r>
              <a:rPr b="1" i="0" lang="en-US" sz="1300" u="none" cap="none" strike="noStrike">
                <a:solidFill>
                  <a:srgbClr val="CE93D8"/>
                </a:solidFill>
                <a:latin typeface="Calibri"/>
                <a:ea typeface="Calibri"/>
                <a:cs typeface="Calibri"/>
                <a:sym typeface="Calibri"/>
              </a:rPr>
              <a:t>eBPF unlocks the future  —  </a:t>
            </a:r>
            <a:r>
              <a:rPr b="0" i="0" lang="en-US" sz="1200" u="none" cap="none" strike="noStrike">
                <a:solidFill>
                  <a:srgbClr val="B0C4DE"/>
                </a:solidFill>
                <a:latin typeface="Calibri"/>
                <a:ea typeface="Calibri"/>
                <a:cs typeface="Calibri"/>
                <a:sym typeface="Calibri"/>
              </a:rPr>
              <a:t>Zero-modification legacy app integration via kernel-level PID injection.</a:t>
            </a:r>
            <a:endParaRPr b="0" i="0" sz="1300" u="none" cap="none" strike="noStrike">
              <a:solidFill>
                <a:schemeClr val="dk1"/>
              </a:solidFill>
              <a:latin typeface="Calibri"/>
              <a:ea typeface="Calibri"/>
              <a:cs typeface="Calibri"/>
              <a:sym typeface="Calibri"/>
            </a:endParaRPr>
          </a:p>
        </p:txBody>
      </p:sp>
      <p:sp>
        <p:nvSpPr>
          <p:cNvPr id="165" name="Google Shape;165;p11"/>
          <p:cNvSpPr/>
          <p:nvPr/>
        </p:nvSpPr>
        <p:spPr>
          <a:xfrm>
            <a:off x="457200" y="4663440"/>
            <a:ext cx="8229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F7F9F"/>
              </a:buClr>
              <a:buSzPts val="1100"/>
              <a:buFont typeface="Calibri"/>
              <a:buNone/>
            </a:pPr>
            <a:r>
              <a:rPr b="0" i="0" lang="en-US" sz="1100" u="none" cap="none" strike="noStrike">
                <a:solidFill>
                  <a:srgbClr val="5F7F9F"/>
                </a:solidFill>
                <a:latin typeface="Calibri"/>
                <a:ea typeface="Calibri"/>
                <a:cs typeface="Calibri"/>
                <a:sym typeface="Calibri"/>
              </a:rPr>
              <a:t>Howard Huang  ·  CS2640 Final Project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2026-05-03T20:40:46Z</dcterms:created>
  <dc:creator>PptxGenJS</dc:creator>
</cp:coreProperties>
</file>